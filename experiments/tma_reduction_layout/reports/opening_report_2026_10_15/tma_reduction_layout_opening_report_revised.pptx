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7" r:id="rId9"/>
    <p:sldId id="259" r:id="rId11"/>
    <p:sldId id="260" r:id="rId12"/>
    <p:sldId id="261" r:id="rId13"/>
    <p:sldId id="262" r:id="rId14"/>
    <p:sldId id="282" r:id="rId19"/>
    <p:sldId id="283" r:id="rId20"/>
    <p:sldId id="284" r:id="rId21"/>
    <p:sldId id="263" r:id="rId15"/>
    <p:sldId id="285" r:id="rId22"/>
    <p:sldId id="286" r:id="rId23"/>
    <p:sldId id="281" r:id="rId33"/>
    <p:sldId id="266" r:id="rId18"/>
    <p:sldId id="287" r:id="rId24"/>
    <p:sldId id="278" r:id="rId30"/>
    <p:sldId id="288" r:id="rId25"/>
    <p:sldId id="289" r:id="rId26"/>
    <p:sldId id="290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8" Type="http://schemas.openxmlformats.org/officeDocument/2006/relationships/slide" Target="slides/slide10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30" Type="http://schemas.openxmlformats.org/officeDocument/2006/relationships/slide" Target="slides/slide11.xml"/><Relationship Id="rId33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本次汇报已完成的问题表征、源码与编译产物审计、Gluon 受控布局对照和本地 A10 版本对照。新微基准 C1、正式硬件校准、静态选择模型和新留出集验证均尚未执行。研究目标是识别值得换布局的部分规约配置，同时保留默认布局已经较好的情况。</a:t>
            </a:r>
          </a:p>
          <a:p>
            <a:r>
              <a:t>源码版本：固定 upstream 20d9d98fead78c2f65e1b3ba5a7881d86a836dad；本地 Triton 3.7.1；本次观察 main 4eda6cc91e86553a2517d1c764ea2967985553ad。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代码保留三维 tile [1,BM,BN]，所以 axis=1 是 M，而不是二维代码中的 axis=0。host 端构造 TensorDescriptor(x, list(x.shape), list(x.stride()), [1,BM,BN])。原始配置启动 16384 个 CTA，num_warps=4；每个 tile 的部分结果写入 [256,8192] FP32 输出。该页只说明 TMA 程序，不能把它当作 A10 上执行了 TMA 的证据。普通 load 代码见第18页。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不要把“默认布局存在更快候选”与“某版本升级后发生回归”混为一谈。H100 TMA 与 A10 普通 load 的软件版本和测量批次不同，分别报告，不用一个收益区间概括。vec 只是布局的一部分；现阶段尚未分离各项硬件成本，也没有经过校准的选择器。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每列的 BM 个元素合并成一个最大值，消去 M，保留 N。矩阵例子的输出 5、9、8、7 正确。这是分块 partial reduction，不是一次完成整个 M=8192 的最终列最大值。后面改变的是元素的硬件归属，数学语义保持不变。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原普通 load 诊断的 direct vec1 在 32×128/w4 上没有 LDS/STS/SHFL/BAR，max 直接在寄存器上执行；direct vec8 的 LDG 也直接进入寄存器，但后续规约/转换有 shared 操作。cp.async 是另一条显式 shared staging 对照，不能把它叫 TMA。这里的 max 是编译器生成的寄存器算术；没有声称在 global memory 中直接做规约。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本表所有参数、基本覆盖、重复次数和贡献线程数均经复核。历史两列是原 issue 的 TMA encoding，不是普通 load 在旧版本的 encoding。普通 load 的被测 3.5.1/3.6.0/3.7.1 都已选择 vec8。第三列是 Phase10 的早期 vec2 原型，只用于说明不同 ownership，不代表已验证的现行成本模型。N 优先时 vec2 的列0属于 warp0 和 warp2。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保持用户原先要求的完整32行归属图。TMA旧布局每列1个线程；vec8每列8个线程跨4 warp；早期vec2每列2个线程跨2 warp。vec8的同一W0:L0持有M=0/8/16/24，完整tile上各持有N=0..7，共32元素。vec2的第0列偶数行是W0:L0、奇数行W2:L0。此图只是输入元素归属，不表示实际指令顺序或已证明的时间。行标签约9pt，现场可放大讲解；具体数学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现阶段已经看到不同lowering、转换数与通信结构，但尚未把总耗时可靠分解为独立分项。资源变化影响吞吐和延迟隐藏，不能把所有阶段时间简单相加，也不能把两个不同kernel的耗时差当纯规约延迟。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ML/MR需要可观察的结果和合法block-uniform runtime循环；不能重复max(x)同一个不变张量就当重复执行。人工反馈成本不直接转嫁到原kernel；不能简单相减得纯max或纯转换延迟。MR若与原kernel的BF16 packed模板不匹配，只能校准匹配部分。MO若转换被折叠，只保留诊断并使用真实相邻子图联合辨识。D=1/2和驻留限制区分依赖延迟与吞吐。纯寄存器子图不需要descriptor。将来扩展普通load时需单独的global/cache取数模板，不能直接套shared-load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中的除法是源码的整除。128单位是bit，而不是bytes或TMA交易大小。普通load的简式在单一BF16连续指针场景下解释，严格源码还在相关同shape同order内存操作间取最大值，再受E限制。不推广到atomic特殊限制，不把SPT当动态load次数。两条路径的源码入口不同，但最终都构造BlockedEncodingAttr。source_audit中固定保存今日main SHA，关键五个transform文件与实验upstream逐字相同；没有计时新main。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128/vec8只需16个线程位置，因此一个warp的剩余2个lane位置用于M；4个warp全部用于M。N64/vec8只需8个位置，剩余4个lane位置用于M；8个warp用于M，因此同一列有32个贡献线程。输入布局与后续lowering成本并非一一对应，不能仅靠贡献线程数预测总时间。audit.py在CPU复现builder，对照六个已存release/shape TTGIR全部一致；不是新增instrumented compiler trace。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图为相关pass的简化关系，实际pipeline多次运行RemoveLayoutConversions，且包含其他pass与TMA lowering。OptimizeThreadLocality还处理特定reshape/gather；本例没有归约前允许重排的reshape。所核对版本没有名为shouldOptimizeThreadLocality的函数，具体guards位于runOnOperation。RemoveLayoutConversions也有rematerialization局部代价估计，因此不说整个编译器没有成本机制。缺口是对本例候选输入布局的完整、经过校准的联合时间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所有时间为同批三个worker中位数的中位数。32×64/w8原始Triton默认422.400；Gluon vec8 421.888、vec1 279.440。33.8%=1−279.440/421.888，而不是把另一轮版本实验的436µs与这里279µs混算。32×128/w4还测了vec8 within-warp等变体，详见完整证据。接近已测最快候选是描述性观察，不等于全空间最优。计时与NCU分开；既有NCU不能直接把每项总性能差归因于单一机制。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表是worker中位数的中位数；百分比来自七次worker配对log-ratio，使用同条件六个比较的Bonferroni/t区间。因此不能直接用第一表两个跨worker中位数相除复算百分比。3%是预声明实用差异阈值。这里固定host路径；device descriptor的41.297%保存在历史结果，不混入原始路径汇报。已有默认Triton↔matching-layout Gluon bridge证据支持入口对应；这仍不是新compiler patch已实现这些收益的证明。各候选资源与lowering共同变化尚需后续机制校准。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待验证模型路线，不是已实现选择器。θ应具有延迟或服务速率等可解释单位，不给每个layout分别自由拟合权重。寄存器与驻留使用早期静态估计和不确定区间，不能偷用测试binary的真实资源信息。regret中的实测最小值是有噪声的评价oracle，需报告不确定性。首版优先验证H100未见shape，之后才考虑B200与其他可用架构；旧数据用于调优后不能继续称held-ou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该函数源码与已完成A10试验中的普通Triton anchor一致；新报告未新编译或执行GPU。BM=32，BN128/w4的grid=16384；BN64/w8的grid=32768。没有descriptor，没有手工shared allocation，也没有Gluon显式布局；shared通信由后端按实际规约/转换需求生成。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原始配置的3.6/3.5比值1.00012，95% t区间[0.99882,1.00141]；补充配置0.99989，[0.99973,1.00006]。3%阈值在测试前冻结，结论仅限一张A10和两个配置。相同shape的三个release最终TTGIR均核对load和reduction输入编码；order在size1 batch维上的变化不改变有效M/N归属。这些时间不是今日main的性能测量，也不替代原GB300的TMA验证。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所有源码文件已随报告归档并记录SHA256。S1为Coalesce.cpp，S2为CoalesceUtils/Utility，S3为TritonGPUAttrDefs.td builder，S4为RemoveLayoutConversions，S5为OptimizeThreadLocality。详细函数和不可变commit链接见mechanism_audit.md。报告输入PPTX也保存SHA；旧raw samples、compiler artifacts与NCU reports保持不变。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实际进度为Phase11 A/B、两轮本地A10与本次源码/文档审计已完成；新的C1尚未执行，模型尚未构建。不把早期Phase10的StageC与这次新的校准C1混淆。目前已有显著优化机会和负方向对照，但没有把所有机理项测清，也没有证明跨架构泛化。创建PR仍需用户另行许可；此次任务只更新报告和整理代码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默认PTX 120行起先执行max.bf16x2，127行起执行cvt.f32.bf16；候选127行起packed max、143行起转换。因此两者都是先BF16局部合并再转换，而不是只有vec2能延后转换。旧加载分4/16与两种不同指令静态条数4/4没有可直接换算的物理单位，删除了“模型低估/高估4倍”。两份代码最初加载段的4条PTX不能证明硬件成本相等。旧等权规则已弃用，不安排继续证明其正确性或错误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riton-lang.org/main/getting-started/tutorials/gluon/layouts.html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chenmiaoming/triton/tree/19f9b0fad0624fd809eecfc552228af953b0a588/experiments/tma_reduction_layout/results/phase10/stage_c" TargetMode="External"/><Relationship Id="rId3" Type="http://schemas.openxmlformats.org/officeDocument/2006/relationships/notesSlide" Target="../notesSlides/notes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blob/4eda6cc91e86553a2517d1c764ea2967985553ad/lib/Dialect/TritonGPU/Transforms/Coalesce.cpp" TargetMode="Externa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blob/20d9d98fead78c2f65e1b3ba5a7881d86a836dad/include/triton/Dialect/TritonGPU/IR/TritonGPUAttrDefs.td#L827-L863" TargetMode="Externa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blob/4eda6cc91e86553a2517d1c764ea2967985553ad/lib/Dialect/TritonGPU/Transforms/OptimizeThreadLocality.cpp#L254-L314" TargetMode="Externa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riton-lang/triton/issues/9703" TargetMode="External"/><Relationship Id="rId3" Type="http://schemas.openxmlformats.org/officeDocument/2006/relationships/hyperlink" Target="https://triton-lang.org/main/getting-started/tutorials/gluon/layouts.html" TargetMode="External"/><Relationship Id="rId4" Type="http://schemas.openxmlformats.org/officeDocument/2006/relationships/hyperlink" Target="https://docs.nvidia.com/nsight-compute/ProfilingGuide/#shared-memory" TargetMode="External"/><Relationship Id="rId5" Type="http://schemas.openxmlformats.org/officeDocument/2006/relationships/hyperlink" Target="https://github.com/triton-lang/triton/blob/4eda6cc91e86553a2517d1c764ea2967985553ad/lib/Dialect/TritonGPU/Transforms/Coalesce.cpp" TargetMode="Externa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科研进展与硕士开题方向汇报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</a:rPr>
              <a:t>面向访存与部分归约的 GPU 张量布局选择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</a:rPr>
              <a:t>以 Triton 为切入点：问题表征、现有编译器机制与代价建模方案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2026-10-15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48840"/>
            <a:ext cx="932688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71717"/>
                </a:solidFill>
                <a:latin typeface="Microsoft YaHei"/>
              </a:rPr>
              <a:t>科研进展、现有选择机制与后续研究计划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72384"/>
            <a:ext cx="9326880" cy="493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Chen Miaoming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831336"/>
            <a:ext cx="93268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1717"/>
                </a:solidFill>
                <a:latin typeface="Microsoft YaHei"/>
                <a:ea typeface="Microsoft YaHei"/>
              </a:rPr>
              <a:t>2026 年 10 月 15 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892040"/>
            <a:ext cx="93268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55555"/>
                </a:solidFill>
                <a:latin typeface="Microsoft YaHei"/>
              </a:rPr>
              <a:t>计算语义 → 布局与现有选择机制 → 受控实验 → 代价建模计划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1. 研究问题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切入点：取数布局与部分归约的局部性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从 TMA 的版本回归出发，研究哪些配置需要改选布局，哪些配置应保留默认。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[1] Issue #9703；[2,3] H100 与 A10 既有实验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81812" y="2042287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38528"/>
            <a:ext cx="10396728" cy="2974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编译器需要把一个逻辑张量分配到寄存器、lane 和 warp；同一数学计算可以有不同布局。</a:t>
            </a:r>
          </a:p>
        </p:txBody>
      </p:sp>
      <p:sp>
        <p:nvSpPr>
          <p:cNvPr id="12" name="Oval 11"/>
          <p:cNvSpPr/>
          <p:nvPr/>
        </p:nvSpPr>
        <p:spPr>
          <a:xfrm>
            <a:off x="781812" y="2559177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55418"/>
            <a:ext cx="10396728" cy="2974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连续 N 维的向量化可能降低取数成本；沿 M 维规约的线程局部性可能减少通信。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" y="3076067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72308"/>
            <a:ext cx="10396728" cy="5942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已有 BF16/max 对照表明：某些配置有明显优化空间，另一些配置的默认布局已接近较快候</a:t>
            </a:r>
          </a:p>
          <a:p>
            <a:pPr algn="l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选。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8" y="4224528"/>
            <a:ext cx="10661904" cy="0"/>
          </a:xfrm>
          <a:prstGeom prst="line">
            <a:avLst/>
          </a:prstGeom>
          <a:ln w="1270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8096" y="4480560"/>
            <a:ext cx="106070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1717"/>
                </a:solidFill>
                <a:latin typeface="Microsoft YaHei"/>
                <a:ea typeface="Microsoft YaHei"/>
              </a:rPr>
              <a:t>研究问题</a:t>
            </a:r>
          </a:p>
        </p:txBody>
      </p:sp>
      <p:sp>
        <p:nvSpPr>
          <p:cNvPr id="18" name="Oval 17"/>
          <p:cNvSpPr/>
          <p:nvPr/>
        </p:nvSpPr>
        <p:spPr>
          <a:xfrm>
            <a:off x="818388" y="5105527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5001768"/>
            <a:ext cx="10305288" cy="2974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如何用编译期信息和硬件校准参数预测完整“取数—归约—输出”的成本？</a:t>
            </a:r>
          </a:p>
        </p:txBody>
      </p:sp>
      <p:sp>
        <p:nvSpPr>
          <p:cNvPr id="20" name="Oval 19"/>
          <p:cNvSpPr/>
          <p:nvPr/>
        </p:nvSpPr>
        <p:spPr>
          <a:xfrm>
            <a:off x="818388" y="5567553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463794"/>
            <a:ext cx="10305288" cy="2974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能否在未见形状上选到较好布局，并在收益小或预测不确定时回退默认？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1. 研究背景与开题定位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</a:rPr>
              <a:t>代表性 Triton 程序：TMA 后逐列 max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</a:rPr>
              <a:t>输入 BF16 [1,8192,8192]；加载 [1,BM,BN]，沿 M 维（axis=1）规约，输出 [1,BN]。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[1] 原始 Issue #9703；host-created descriptor，BF16 partial 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828800"/>
            <a:ext cx="10698480" cy="3584448"/>
          </a:xfrm>
          <a:prstGeom prst="rect">
            <a:avLst/>
          </a:prstGeom>
          <a:solidFill>
            <a:srgbClr val="F7F7F7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956816"/>
            <a:ext cx="10323576" cy="33284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import triton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import triton.language as tl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@triton.jit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def partial_max(x_desc, out, BM: tl.constexpr, BN: tl.constexpr):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pid = tl.program_id(0)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pm, pn = pid // (8192 // BN), pid % (8192 // BN)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x = x_desc.load([0, pm * BM, pn * BN])  # [1, BM, BN]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x = x.to(tl.float32)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y = tl.max(x, axis=1)                 # [1, BN]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cols = pn * BN + tl.arange(0, BN)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offs = pm * 8192 + cols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Consolas"/>
                <a:ea typeface="Microsoft YaHei"/>
              </a:rPr>
              <a:t>    tl.store(out + offs, tl.reshape(y, [BN]))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5687568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</a:rPr>
              <a:t>本页展示 TMA 路径；x_desc 在 host 端构造，descriptor 构造不在 kernel 计时区间。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6126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</a:rPr>
              <a:t>原始几何：32×128 / 4 warps；补充几何：32×64 / 8 warps。普通 tl.load 完整代码见附录 A。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1. 研究背景与开题定位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计算模式：逐列归约，消去 M 维、保留 N 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</a:rPr>
              <a:t>用 4×4 矩阵说明一个 tile 内的计算；全局 M 维最大值还需要合并不同 tile 的部分结果。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[1] Descriptor-load / max reproducer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03120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35124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8488" y="2103120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9928" y="2135124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2576" y="2103120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4016" y="2135124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26664" y="2103120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D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18104" y="2135124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688336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D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720340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8488" y="2688336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9928" y="2720340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2576" y="2688336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D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14016" y="2720340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26664" y="2688336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18104" y="2720340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273552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305556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18488" y="3273552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D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09928" y="3305556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22576" y="3273552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4016" y="3305556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26664" y="3273552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18104" y="3305556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3858768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38907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18488" y="3858768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09928" y="38907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22576" y="3858768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14016" y="38907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26664" y="3858768"/>
            <a:ext cx="65836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18104" y="38907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6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43584" y="4572000"/>
            <a:ext cx="0" cy="292608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1190977" y="4768312"/>
            <a:ext cx="52607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243584" y="4768312"/>
            <a:ext cx="52606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914400" y="4974336"/>
            <a:ext cx="6583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006340"/>
            <a:ext cx="475488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947672" y="4572000"/>
            <a:ext cx="0" cy="292608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1895065" y="4768312"/>
            <a:ext cx="52607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947672" y="4768312"/>
            <a:ext cx="52606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618488" y="4974336"/>
            <a:ext cx="6583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09928" y="5006340"/>
            <a:ext cx="475488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9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651760" y="4572000"/>
            <a:ext cx="0" cy="292608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2599153" y="4768312"/>
            <a:ext cx="52607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651760" y="4768312"/>
            <a:ext cx="52606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322576" y="4974336"/>
            <a:ext cx="6583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14016" y="5006340"/>
            <a:ext cx="475488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8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355848" y="4572000"/>
            <a:ext cx="0" cy="292608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3303241" y="4768312"/>
            <a:ext cx="52607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355848" y="4768312"/>
            <a:ext cx="52606" cy="96296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026664" y="4974336"/>
            <a:ext cx="65836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18104" y="5006340"/>
            <a:ext cx="475488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" y="5769864"/>
            <a:ext cx="29718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  <a:ea typeface="Microsoft YaHei"/>
              </a:rPr>
              <a:t>图 1. 每列产生一个输出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1975104"/>
            <a:ext cx="6638544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5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1717"/>
                </a:solidFill>
                <a:latin typeface="Microsoft YaHei"/>
                <a:ea typeface="Microsoft YaHei"/>
              </a:rPr>
              <a:t>y[n] = max{x[m,n] : 0 ≤ m &lt; BM}</a:t>
            </a:r>
          </a:p>
        </p:txBody>
      </p:sp>
      <p:sp>
        <p:nvSpPr>
          <p:cNvPr id="64" name="Oval 63"/>
          <p:cNvSpPr/>
          <p:nvPr/>
        </p:nvSpPr>
        <p:spPr>
          <a:xfrm>
            <a:off x="4572000" y="2999232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91456" y="2889504"/>
            <a:ext cx="6318504" cy="356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1717"/>
                </a:solidFill>
                <a:latin typeface="Microsoft YaHei"/>
                <a:ea typeface="Microsoft YaHei"/>
              </a:rPr>
              <a:t>逐列取 max：消去行索引 M，保留列索引 N。</a:t>
            </a:r>
          </a:p>
        </p:txBody>
      </p:sp>
      <p:sp>
        <p:nvSpPr>
          <p:cNvPr id="66" name="Oval 65"/>
          <p:cNvSpPr/>
          <p:nvPr/>
        </p:nvSpPr>
        <p:spPr>
          <a:xfrm>
            <a:off x="4572000" y="3593211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91456" y="3483483"/>
            <a:ext cx="6318504" cy="356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1717"/>
                </a:solidFill>
                <a:latin typeface="Microsoft YaHei"/>
                <a:ea typeface="Microsoft YaHei"/>
              </a:rPr>
              <a:t>每个 CTA 对自己的 tile 计算局部结果。</a:t>
            </a:r>
          </a:p>
        </p:txBody>
      </p:sp>
      <p:sp>
        <p:nvSpPr>
          <p:cNvPr id="68" name="Oval 67"/>
          <p:cNvSpPr/>
          <p:nvPr/>
        </p:nvSpPr>
        <p:spPr>
          <a:xfrm>
            <a:off x="4572000" y="4187190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91456" y="4077462"/>
            <a:ext cx="6318504" cy="356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1717"/>
                </a:solidFill>
                <a:latin typeface="Microsoft YaHei"/>
                <a:ea typeface="Microsoft YaHei"/>
              </a:rPr>
              <a:t>一列的 BM 个值必须合并为一个值。</a:t>
            </a:r>
          </a:p>
        </p:txBody>
      </p:sp>
      <p:sp>
        <p:nvSpPr>
          <p:cNvPr id="70" name="Oval 69"/>
          <p:cNvSpPr/>
          <p:nvPr/>
        </p:nvSpPr>
        <p:spPr>
          <a:xfrm>
            <a:off x="4572000" y="4781169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91456" y="4671441"/>
            <a:ext cx="6318504" cy="689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</a:rPr>
              <a:t>不同布局改变这些值的线程归属，数学目标保持相同。</a:t>
            </a:r>
          </a:p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71717"/>
                </a:solidFill>
                <a:latin typeface="Microsoft YaHei"/>
                <a:ea typeface="Microsoft YaHe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1. 研究问题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两种取数路径，归约算术都使用寄存器中的值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TMA 的初始 shared staging，与归约/输出转换使用的 shared 临时存储，需要分开。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[1,4] Triton/Gluon 数据路径；[3] A10 归档 SASS 与 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56231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Microsoft YaHei"/>
                <a:ea typeface="Microsoft YaHei"/>
              </a:rPr>
              <a:t>TMA / host descriptor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67712"/>
            <a:ext cx="23317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04288"/>
            <a:ext cx="211226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Global memory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267712"/>
            <a:ext cx="23317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2304288"/>
            <a:ext cx="211226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Shared memory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267712"/>
            <a:ext cx="23317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2304288"/>
            <a:ext cx="211226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Registers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3824" y="2313432"/>
            <a:ext cx="365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171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313432"/>
            <a:ext cx="3657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6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171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1920240"/>
            <a:ext cx="5943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717"/>
                </a:solidFill>
                <a:latin typeface="Microsoft YaHei"/>
                <a:ea typeface="Microsoft YaHei"/>
              </a:rPr>
              <a:t>TMA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1920240"/>
            <a:ext cx="86868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717"/>
                </a:solidFill>
                <a:latin typeface="Microsoft YaHei"/>
                <a:ea typeface="Microsoft YaHei"/>
              </a:rPr>
              <a:t>local_load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331720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→  partial 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15468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Microsoft YaHei"/>
                <a:ea typeface="Microsoft YaHei"/>
              </a:rPr>
              <a:t>普通 tl.load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611880"/>
            <a:ext cx="3200400" cy="493776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648456"/>
            <a:ext cx="298094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Global memory /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657600"/>
            <a:ext cx="19202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→  tl.load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3611880"/>
            <a:ext cx="23317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3648456"/>
            <a:ext cx="211226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Registers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3675887"/>
            <a:ext cx="22128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→  partial max</a:t>
            </a:r>
          </a:p>
        </p:txBody>
      </p:sp>
      <p:sp>
        <p:nvSpPr>
          <p:cNvPr id="29" name="Oval 28"/>
          <p:cNvSpPr/>
          <p:nvPr/>
        </p:nvSpPr>
        <p:spPr>
          <a:xfrm>
            <a:off x="818388" y="4789170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4690872"/>
            <a:ext cx="1030528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跨线程规约或结果重排仍可能使用 shared memory 和同步；它们不是普通 load 的初始取数。</a:t>
            </a:r>
          </a:p>
        </p:txBody>
      </p:sp>
      <p:sp>
        <p:nvSpPr>
          <p:cNvPr id="31" name="Oval 30"/>
          <p:cNvSpPr/>
          <p:nvPr/>
        </p:nvSpPr>
        <p:spPr>
          <a:xfrm>
            <a:off x="818388" y="5292090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" y="5193792"/>
            <a:ext cx="1030528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vec = sizePerThread[N] 描述基本连续元素归属；不是 TMA 传输宽度，也不等于硬件加载次数。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2. 布局冲突机理分析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三种输入布局：参数、重复覆盖与同列贡献线程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输入 tile=32×128；均为 1 CTA、4 warp、128 线程。参数按 [M,N] 书写，N 优先。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</a:rPr>
              <a:t>[1,4,5] 原 issue 的 TMA encoding、布局定义与早期原型 TTGIR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" y="1856231"/>
            <a:ext cx="11073384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8952" y="1906524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参数 / 归属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1906524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1717"/>
                </a:solidFill>
                <a:latin typeface="Microsoft YaHei"/>
              </a:rPr>
              <a:t>TMA 3.5.1（报告）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1906524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1717"/>
                </a:solidFill>
                <a:latin typeface="Microsoft YaHei"/>
              </a:rPr>
              <a:t>TMA 3.6.0（报告）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906524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1717"/>
                </a:solidFill>
                <a:latin typeface="Microsoft YaHei"/>
              </a:rPr>
              <a:t>早期 vec2 原型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" y="2212848"/>
            <a:ext cx="11073384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8952" y="2263140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sizePerThread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7" y="2263140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[1,1]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263140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[1,8]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263140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[1,2]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7512" y="2569463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8952" y="2619756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threadsPerWarp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4487" y="2619756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[1,32]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2619756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[2,16]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619756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[1,32]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7512" y="2926079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8952" y="2976372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warpsPerCTA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4487" y="2976372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[1,4]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2976372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[4,1]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976372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[2,2]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7512" y="3282696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8952" y="3332988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CTA 基本覆盖（逐维相乘）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487" y="3332988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1×128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3332988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8×128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332988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2×128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67512" y="3639312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58952" y="3689604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沿 M 重复次数（32 / 覆盖行数）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04487" y="3689604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3689604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3689604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16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67512" y="3995927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58952" y="4046219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每线程元素分布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4487" y="4046219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32 行 × 1 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7104" y="4046219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4 行 × 8 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046219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16 行 × 2 列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7512" y="4352544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58952" y="4402836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每线程总元素数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04487" y="4402836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32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4" y="4402836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32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4402836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32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67512" y="4709160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58952" y="4759452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同列贡献线程数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04487" y="4759452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1 lane × 1 warp =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47104" y="4759452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2 lanes × 4 warps = 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4759452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1 lane × 2 warps = 2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7512" y="5065776"/>
            <a:ext cx="11073384" cy="0"/>
          </a:xfrm>
          <a:prstGeom prst="line">
            <a:avLst/>
          </a:prstGeom>
          <a:ln w="4445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58952" y="5116068"/>
            <a:ext cx="296265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同列贡献线程跨几个 warp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04487" y="5116068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47104" y="5116068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9720" y="5116068"/>
            <a:ext cx="245973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1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67512" y="5422392"/>
            <a:ext cx="11073384" cy="0"/>
          </a:xfrm>
          <a:prstGeom prst="line">
            <a:avLst/>
          </a:prstGeom>
          <a:ln w="1016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68096" y="5541264"/>
            <a:ext cx="10689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sizePerThread：每线程的基本元素小块；threadsPerWarp：warp 内 lane 如何分配。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" y="5843016"/>
            <a:ext cx="10689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1717"/>
                </a:solidFill>
                <a:latin typeface="Microsoft YaHei"/>
                <a:ea typeface="Microsoft YaHei"/>
              </a:rPr>
              <a:t>warpsPerCTA：CTA 内 warp 如何分配。基本覆盖 = 三个参数逐维相乘。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" y="6144768"/>
            <a:ext cx="10689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717"/>
                </a:solidFill>
                <a:latin typeface="Microsoft YaHei"/>
              </a:rPr>
              <a:t>重复覆盖不新增线程。第三列仅作布局示例；早期选择规则已弃用，新模型尚待建立。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2. 布局冲突机理分析 · 输入 tile=32×128；每种布局均为 1 CTA、4 warp、128 线程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第 0 列的 32 个值分别归哪个线程？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仅表示输入归属；当前 baseline 输入编码同 3.6.0，lowering 可不同。W=warp 编号；L=lane 编号。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30759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1717"/>
                </a:solidFill>
                <a:latin typeface="Microsoft YaHei"/>
              </a:rPr>
              <a:t>TMA 3.5.1（原报告）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572768"/>
            <a:ext cx="3474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1717"/>
                </a:solidFill>
                <a:latin typeface="Microsoft YaHei"/>
                <a:ea typeface="Microsoft YaHei"/>
              </a:rPr>
              <a:t>基本覆盖 1×128；沿 M 重复 32 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1051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181051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181416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4" name="Oval 13"/>
          <p:cNvSpPr/>
          <p:nvPr/>
        </p:nvSpPr>
        <p:spPr>
          <a:xfrm>
            <a:off x="3017520" y="185257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92938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" y="192938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193304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8" name="Oval 17"/>
          <p:cNvSpPr/>
          <p:nvPr/>
        </p:nvSpPr>
        <p:spPr>
          <a:xfrm>
            <a:off x="3017520" y="197144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04825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" y="204825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205191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2" name="Oval 21"/>
          <p:cNvSpPr/>
          <p:nvPr/>
        </p:nvSpPr>
        <p:spPr>
          <a:xfrm>
            <a:off x="3017520" y="209031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16712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" y="216712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217078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6" name="Oval 25"/>
          <p:cNvSpPr/>
          <p:nvPr/>
        </p:nvSpPr>
        <p:spPr>
          <a:xfrm>
            <a:off x="3017520" y="220919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28600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" y="228600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228965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0" name="Oval 29"/>
          <p:cNvSpPr/>
          <p:nvPr/>
        </p:nvSpPr>
        <p:spPr>
          <a:xfrm>
            <a:off x="3017520" y="232806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40487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" y="240487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240852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4" name="Oval 33"/>
          <p:cNvSpPr/>
          <p:nvPr/>
        </p:nvSpPr>
        <p:spPr>
          <a:xfrm>
            <a:off x="3017520" y="244693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252374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" y="252374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" y="252740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8" name="Oval 37"/>
          <p:cNvSpPr/>
          <p:nvPr/>
        </p:nvSpPr>
        <p:spPr>
          <a:xfrm>
            <a:off x="3017520" y="256580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264261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" y="264261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" y="264627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42" name="Oval 41"/>
          <p:cNvSpPr/>
          <p:nvPr/>
        </p:nvSpPr>
        <p:spPr>
          <a:xfrm>
            <a:off x="3017520" y="268467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276148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" y="276148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" y="276514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46" name="Oval 45"/>
          <p:cNvSpPr/>
          <p:nvPr/>
        </p:nvSpPr>
        <p:spPr>
          <a:xfrm>
            <a:off x="3017520" y="280355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288036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8" y="288036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" y="288401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50" name="Oval 49"/>
          <p:cNvSpPr/>
          <p:nvPr/>
        </p:nvSpPr>
        <p:spPr>
          <a:xfrm>
            <a:off x="3017520" y="292242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299923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8" y="299923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" y="300288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54" name="Oval 53"/>
          <p:cNvSpPr/>
          <p:nvPr/>
        </p:nvSpPr>
        <p:spPr>
          <a:xfrm>
            <a:off x="3017520" y="304129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311810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8" y="311810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" y="312176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58" name="Oval 57"/>
          <p:cNvSpPr/>
          <p:nvPr/>
        </p:nvSpPr>
        <p:spPr>
          <a:xfrm>
            <a:off x="3017520" y="316016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" y="323697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5528" y="323697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" y="324063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62" name="Oval 61"/>
          <p:cNvSpPr/>
          <p:nvPr/>
        </p:nvSpPr>
        <p:spPr>
          <a:xfrm>
            <a:off x="3017520" y="327903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335584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8" y="335584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" y="335950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66" name="Oval 65"/>
          <p:cNvSpPr/>
          <p:nvPr/>
        </p:nvSpPr>
        <p:spPr>
          <a:xfrm>
            <a:off x="3017520" y="339791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" y="347472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5528" y="347472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" y="347837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70" name="Oval 69"/>
          <p:cNvSpPr/>
          <p:nvPr/>
        </p:nvSpPr>
        <p:spPr>
          <a:xfrm>
            <a:off x="3017520" y="351678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359359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5528" y="359359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" y="359724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74" name="Oval 73"/>
          <p:cNvSpPr/>
          <p:nvPr/>
        </p:nvSpPr>
        <p:spPr>
          <a:xfrm>
            <a:off x="3017520" y="363565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0352" y="371246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95528" y="371246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104" y="371612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78" name="Oval 77"/>
          <p:cNvSpPr/>
          <p:nvPr/>
        </p:nvSpPr>
        <p:spPr>
          <a:xfrm>
            <a:off x="3017520" y="375452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30352" y="3831335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5528" y="3831335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" y="383499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82" name="Oval 81"/>
          <p:cNvSpPr/>
          <p:nvPr/>
        </p:nvSpPr>
        <p:spPr>
          <a:xfrm>
            <a:off x="3017520" y="387339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0352" y="395020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5528" y="395020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2104" y="395386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86" name="Oval 85"/>
          <p:cNvSpPr/>
          <p:nvPr/>
        </p:nvSpPr>
        <p:spPr>
          <a:xfrm>
            <a:off x="3017520" y="399227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" y="406908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5528" y="406908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2104" y="407273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90" name="Oval 89"/>
          <p:cNvSpPr/>
          <p:nvPr/>
        </p:nvSpPr>
        <p:spPr>
          <a:xfrm>
            <a:off x="3017520" y="411114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0352" y="418795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5528" y="418795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32104" y="419160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94" name="Oval 93"/>
          <p:cNvSpPr/>
          <p:nvPr/>
        </p:nvSpPr>
        <p:spPr>
          <a:xfrm>
            <a:off x="3017520" y="423001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0352" y="430682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5528" y="430682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2104" y="431048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98" name="Oval 97"/>
          <p:cNvSpPr/>
          <p:nvPr/>
        </p:nvSpPr>
        <p:spPr>
          <a:xfrm>
            <a:off x="3017520" y="434888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0352" y="442569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95528" y="442569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2104" y="442935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02" name="Oval 101"/>
          <p:cNvSpPr/>
          <p:nvPr/>
        </p:nvSpPr>
        <p:spPr>
          <a:xfrm>
            <a:off x="3017520" y="446775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0352" y="454456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5528" y="454456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2104" y="454822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06" name="Oval 105"/>
          <p:cNvSpPr/>
          <p:nvPr/>
        </p:nvSpPr>
        <p:spPr>
          <a:xfrm>
            <a:off x="3017520" y="458663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0352" y="466344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95528" y="466344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32104" y="466709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10" name="Oval 109"/>
          <p:cNvSpPr/>
          <p:nvPr/>
        </p:nvSpPr>
        <p:spPr>
          <a:xfrm>
            <a:off x="3017520" y="470550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0352" y="478231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95528" y="478231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32104" y="478596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14" name="Oval 113"/>
          <p:cNvSpPr/>
          <p:nvPr/>
        </p:nvSpPr>
        <p:spPr>
          <a:xfrm>
            <a:off x="3017520" y="482437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0352" y="4901183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95528" y="4901183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2104" y="490484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18" name="Oval 117"/>
          <p:cNvSpPr/>
          <p:nvPr/>
        </p:nvSpPr>
        <p:spPr>
          <a:xfrm>
            <a:off x="3017520" y="494324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30352" y="502005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95528" y="502005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32104" y="502371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22" name="Oval 121"/>
          <p:cNvSpPr/>
          <p:nvPr/>
        </p:nvSpPr>
        <p:spPr>
          <a:xfrm>
            <a:off x="3017520" y="506211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30352" y="513892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28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95528" y="513892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32104" y="514258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26" name="Oval 125"/>
          <p:cNvSpPr/>
          <p:nvPr/>
        </p:nvSpPr>
        <p:spPr>
          <a:xfrm>
            <a:off x="3017520" y="518099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30352" y="525780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29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95528" y="525780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32104" y="526145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30" name="Oval 129"/>
          <p:cNvSpPr/>
          <p:nvPr/>
        </p:nvSpPr>
        <p:spPr>
          <a:xfrm>
            <a:off x="3017520" y="529986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30352" y="537667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5528" y="537667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32104" y="538032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34" name="Oval 133"/>
          <p:cNvSpPr/>
          <p:nvPr/>
        </p:nvSpPr>
        <p:spPr>
          <a:xfrm>
            <a:off x="3017520" y="541873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30352" y="549554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95528" y="549554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32104" y="549920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38" name="Oval 137"/>
          <p:cNvSpPr/>
          <p:nvPr/>
        </p:nvSpPr>
        <p:spPr>
          <a:xfrm>
            <a:off x="3017520" y="553760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95528" y="5779008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1717"/>
                </a:solidFill>
                <a:latin typeface="Microsoft YaHei"/>
                <a:ea typeface="Microsoft YaHei"/>
              </a:rPr>
              <a:t>同列：1 个线程，跨 1 个 warp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95528" y="6080760"/>
            <a:ext cx="3474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Microsoft YaHei"/>
                <a:ea typeface="Microsoft YaHei"/>
              </a:rPr>
              <a:t>每线程持有该列 32 个值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62856" y="130759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1717"/>
                </a:solidFill>
                <a:latin typeface="Microsoft YaHei"/>
              </a:rPr>
              <a:t>TMA 3.6.0 / 固定 baseline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62856" y="1572768"/>
            <a:ext cx="3474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1717"/>
                </a:solidFill>
                <a:latin typeface="Microsoft YaHei"/>
                <a:ea typeface="Microsoft YaHei"/>
              </a:rPr>
              <a:t>基本覆盖 8×128；沿 M 重复 4 次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297680" y="181051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562856" y="181051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99432" y="181416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46" name="Oval 145"/>
          <p:cNvSpPr/>
          <p:nvPr/>
        </p:nvSpPr>
        <p:spPr>
          <a:xfrm>
            <a:off x="6784848" y="185257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297680" y="192938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562856" y="192938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599432" y="193304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L16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297680" y="204825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562856" y="2048256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599432" y="205191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297680" y="216712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562856" y="2167128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599432" y="217078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L16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297680" y="228600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562856" y="2286000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599432" y="228965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297680" y="240487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562856" y="2404872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599432" y="240852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L16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297680" y="252374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562856" y="2523744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599432" y="252740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297680" y="264261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562856" y="2642616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599432" y="264627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L16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297680" y="276148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562856" y="276148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99432" y="276514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71" name="Oval 170"/>
          <p:cNvSpPr/>
          <p:nvPr/>
        </p:nvSpPr>
        <p:spPr>
          <a:xfrm>
            <a:off x="6784848" y="280355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297680" y="288036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562856" y="288036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599432" y="288401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L16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297680" y="299923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562856" y="2999232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99432" y="300288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297680" y="311810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562856" y="3118104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599432" y="312176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L16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297680" y="323697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562856" y="3236976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599432" y="324063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297680" y="335584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62856" y="3355848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599432" y="335950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L16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297680" y="347472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562856" y="3474720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4599432" y="347837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297680" y="359359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562856" y="3593592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599432" y="359724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L16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297680" y="371246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562856" y="371246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599432" y="371612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196" name="Oval 195"/>
          <p:cNvSpPr/>
          <p:nvPr/>
        </p:nvSpPr>
        <p:spPr>
          <a:xfrm>
            <a:off x="6784848" y="375452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297680" y="3831335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562856" y="3831335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599432" y="383499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L16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297680" y="395020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562856" y="3950208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599432" y="395386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L0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297680" y="406908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562856" y="4069080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599432" y="407273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L16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297680" y="418795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562856" y="4187952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599432" y="419160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297680" y="430682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4562856" y="4306824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4599432" y="431048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L16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297680" y="442569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562856" y="4425696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599432" y="442935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297680" y="454456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23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562856" y="4544568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599432" y="454822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L16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297680" y="466344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562856" y="466344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599432" y="466709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21" name="Oval 220"/>
          <p:cNvSpPr/>
          <p:nvPr/>
        </p:nvSpPr>
        <p:spPr>
          <a:xfrm>
            <a:off x="6784848" y="470550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297680" y="478231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25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4562856" y="478231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4599432" y="478596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L16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297680" y="4901183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4562856" y="4901183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4599432" y="490484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297680" y="502005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27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562856" y="5020056"/>
            <a:ext cx="2093976" cy="118872"/>
          </a:xfrm>
          <a:prstGeom prst="rect">
            <a:avLst/>
          </a:prstGeom>
          <a:solidFill>
            <a:srgbClr val="F8DEC4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4599432" y="502371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W1 : L16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297680" y="513892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28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4562856" y="5138928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4599432" y="514258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297680" y="525780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29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4562856" y="5257800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599432" y="526145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L16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297680" y="537667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30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4562856" y="5376672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599432" y="538032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L0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297680" y="549554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31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4562856" y="5495544"/>
            <a:ext cx="2093976" cy="118872"/>
          </a:xfrm>
          <a:prstGeom prst="rect">
            <a:avLst/>
          </a:prstGeom>
          <a:solidFill>
            <a:srgbClr val="E2D8E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4599432" y="549920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W3 : L16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6894576" y="1824228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7013448" y="1824228"/>
            <a:ext cx="0" cy="923544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6894576" y="2747772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7095744" y="2148840"/>
            <a:ext cx="905256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第 1 次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行 0–7</a:t>
            </a:r>
          </a:p>
        </p:txBody>
      </p:sp>
      <p:cxnSp>
        <p:nvCxnSpPr>
          <p:cNvPr id="247" name="Connector 246"/>
          <p:cNvCxnSpPr/>
          <p:nvPr/>
        </p:nvCxnSpPr>
        <p:spPr>
          <a:xfrm>
            <a:off x="6894576" y="2775204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7013448" y="2775204"/>
            <a:ext cx="0" cy="923544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6894576" y="3698748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7095744" y="3099816"/>
            <a:ext cx="905256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第 2 次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行 8–15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4562856" y="2761488"/>
            <a:ext cx="2093976" cy="0"/>
          </a:xfrm>
          <a:prstGeom prst="line">
            <a:avLst/>
          </a:prstGeom>
          <a:ln w="1143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6894576" y="3726180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7013448" y="3726180"/>
            <a:ext cx="0" cy="923544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6894576" y="4649724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7095744" y="4050791"/>
            <a:ext cx="905256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第 3 次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行 16–23</a:t>
            </a:r>
          </a:p>
        </p:txBody>
      </p:sp>
      <p:cxnSp>
        <p:nvCxnSpPr>
          <p:cNvPr id="256" name="Connector 255"/>
          <p:cNvCxnSpPr/>
          <p:nvPr/>
        </p:nvCxnSpPr>
        <p:spPr>
          <a:xfrm>
            <a:off x="4562856" y="3712464"/>
            <a:ext cx="2093976" cy="0"/>
          </a:xfrm>
          <a:prstGeom prst="line">
            <a:avLst/>
          </a:prstGeom>
          <a:ln w="1143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6894576" y="4677155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7013448" y="4677155"/>
            <a:ext cx="0" cy="923545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6894576" y="5600700"/>
            <a:ext cx="118872" cy="0"/>
          </a:xfrm>
          <a:prstGeom prst="line">
            <a:avLst/>
          </a:prstGeom>
          <a:ln w="1016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/>
          <p:cNvSpPr txBox="1"/>
          <p:nvPr/>
        </p:nvSpPr>
        <p:spPr>
          <a:xfrm>
            <a:off x="7095744" y="5001768"/>
            <a:ext cx="905256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第 4 次</a:t>
            </a:r>
          </a:p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71717"/>
                </a:solidFill>
                <a:latin typeface="Microsoft YaHei"/>
                <a:ea typeface="Microsoft YaHei"/>
              </a:rPr>
              <a:t>行 24–31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4562856" y="4663440"/>
            <a:ext cx="2093976" cy="0"/>
          </a:xfrm>
          <a:prstGeom prst="line">
            <a:avLst/>
          </a:prstGeom>
          <a:ln w="1143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4562856" y="5779008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1717"/>
                </a:solidFill>
                <a:latin typeface="Microsoft YaHei"/>
                <a:ea typeface="Microsoft YaHei"/>
              </a:rPr>
              <a:t>同列：8 个线程，跨 4 个 warp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562856" y="6080760"/>
            <a:ext cx="3474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Microsoft YaHei"/>
                <a:ea typeface="Microsoft YaHei"/>
              </a:rPr>
              <a:t>每线程持有该列 4 个值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330183" y="130759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1717"/>
                </a:solidFill>
                <a:latin typeface="Microsoft YaHei"/>
              </a:rPr>
              <a:t>早期 vec2 原型：布局示例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8330183" y="1572768"/>
            <a:ext cx="34747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1717"/>
                </a:solidFill>
                <a:latin typeface="Microsoft YaHei"/>
                <a:ea typeface="Microsoft YaHei"/>
              </a:rPr>
              <a:t>基本覆盖 2×128；沿 M 重复 16 次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065008" y="181051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8330183" y="181051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8366759" y="181416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69" name="Oval 268"/>
          <p:cNvSpPr/>
          <p:nvPr/>
        </p:nvSpPr>
        <p:spPr>
          <a:xfrm>
            <a:off x="10552176" y="185257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8065008" y="192938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8330183" y="1929384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8366759" y="193304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8065008" y="204825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8330183" y="204825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8366759" y="205191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76" name="Oval 275"/>
          <p:cNvSpPr/>
          <p:nvPr/>
        </p:nvSpPr>
        <p:spPr>
          <a:xfrm>
            <a:off x="10552176" y="209031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065008" y="216712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8330183" y="2167128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8366759" y="217078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065008" y="228600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8330183" y="228600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8366759" y="228965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83" name="Oval 282"/>
          <p:cNvSpPr/>
          <p:nvPr/>
        </p:nvSpPr>
        <p:spPr>
          <a:xfrm>
            <a:off x="10552176" y="232806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8065008" y="240487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8330183" y="2404872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8366759" y="240852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065008" y="252374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8330183" y="252374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8366759" y="252740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90" name="Oval 289"/>
          <p:cNvSpPr/>
          <p:nvPr/>
        </p:nvSpPr>
        <p:spPr>
          <a:xfrm>
            <a:off x="10552176" y="256580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8065008" y="264261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8330183" y="2642616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8366759" y="264627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065008" y="276148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8330183" y="276148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8366759" y="276514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297" name="Oval 296"/>
          <p:cNvSpPr/>
          <p:nvPr/>
        </p:nvSpPr>
        <p:spPr>
          <a:xfrm>
            <a:off x="10552176" y="280355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8065008" y="288036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8330183" y="2880360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8366759" y="288401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8065008" y="299923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8330183" y="299923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8366759" y="300288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04" name="Oval 303"/>
          <p:cNvSpPr/>
          <p:nvPr/>
        </p:nvSpPr>
        <p:spPr>
          <a:xfrm>
            <a:off x="10552176" y="304129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8065008" y="311810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8330183" y="3118104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8366759" y="312176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8065008" y="323697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8330183" y="323697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8366759" y="324063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11" name="Oval 310"/>
          <p:cNvSpPr/>
          <p:nvPr/>
        </p:nvSpPr>
        <p:spPr>
          <a:xfrm>
            <a:off x="10552176" y="327903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8065008" y="335584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8330183" y="3355848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8366759" y="335950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8065008" y="347472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330183" y="347472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8366759" y="347837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18" name="Oval 317"/>
          <p:cNvSpPr/>
          <p:nvPr/>
        </p:nvSpPr>
        <p:spPr>
          <a:xfrm>
            <a:off x="10552176" y="351678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8065008" y="359359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30183" y="3593592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8366759" y="359724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065008" y="371246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8330183" y="3712464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8366759" y="371612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25" name="Oval 324"/>
          <p:cNvSpPr/>
          <p:nvPr/>
        </p:nvSpPr>
        <p:spPr>
          <a:xfrm>
            <a:off x="10552176" y="375452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8065008" y="3831335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8330183" y="3831335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8366759" y="383499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8065008" y="395020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8330183" y="395020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8366759" y="395386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32" name="Oval 331"/>
          <p:cNvSpPr/>
          <p:nvPr/>
        </p:nvSpPr>
        <p:spPr>
          <a:xfrm>
            <a:off x="10552176" y="399227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8065008" y="406908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8330183" y="4069080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8366759" y="407273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8065008" y="418795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8330183" y="418795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8366759" y="419160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39" name="Oval 338"/>
          <p:cNvSpPr/>
          <p:nvPr/>
        </p:nvSpPr>
        <p:spPr>
          <a:xfrm>
            <a:off x="10552176" y="423001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8065008" y="430682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21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8330183" y="4306824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8366759" y="431048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8065008" y="442569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8330183" y="4425696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8366759" y="442935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46" name="Oval 345"/>
          <p:cNvSpPr/>
          <p:nvPr/>
        </p:nvSpPr>
        <p:spPr>
          <a:xfrm>
            <a:off x="10552176" y="4467758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8065008" y="454456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23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8330183" y="4544568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8366759" y="454822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8065008" y="466344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8330183" y="4663440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366759" y="466709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53" name="Oval 352"/>
          <p:cNvSpPr/>
          <p:nvPr/>
        </p:nvSpPr>
        <p:spPr>
          <a:xfrm>
            <a:off x="10552176" y="4705502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8065008" y="478231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25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8330183" y="4782312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8366759" y="478596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8065008" y="4901183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8330183" y="4901183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8366759" y="490484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60" name="Oval 359"/>
          <p:cNvSpPr/>
          <p:nvPr/>
        </p:nvSpPr>
        <p:spPr>
          <a:xfrm>
            <a:off x="10552176" y="4943246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8065008" y="5020056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27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8330183" y="5020056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8366759" y="5023713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8065008" y="5138928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28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8330183" y="5138928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8366759" y="5142585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67" name="Oval 366"/>
          <p:cNvSpPr/>
          <p:nvPr/>
        </p:nvSpPr>
        <p:spPr>
          <a:xfrm>
            <a:off x="10552176" y="5180990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8065008" y="5257800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29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8330183" y="5257800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8366759" y="5261457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8065008" y="5376672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30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8330183" y="5376672"/>
            <a:ext cx="2093976" cy="118872"/>
          </a:xfrm>
          <a:prstGeom prst="rect">
            <a:avLst/>
          </a:prstGeom>
          <a:solidFill>
            <a:srgbClr val="D4E6F1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8366759" y="5380329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W0 : L0</a:t>
            </a:r>
          </a:p>
        </p:txBody>
      </p:sp>
      <p:sp>
        <p:nvSpPr>
          <p:cNvPr id="374" name="Oval 373"/>
          <p:cNvSpPr/>
          <p:nvPr/>
        </p:nvSpPr>
        <p:spPr>
          <a:xfrm>
            <a:off x="10552176" y="5418734"/>
            <a:ext cx="36576" cy="36576"/>
          </a:xfrm>
          <a:prstGeom prst="ellipse">
            <a:avLst/>
          </a:prstGeom>
          <a:solidFill>
            <a:srgbClr val="255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8065008" y="5495544"/>
            <a:ext cx="210312" cy="1188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1717"/>
                </a:solidFill>
                <a:latin typeface="Microsoft YaHei"/>
                <a:ea typeface="Microsoft YaHei"/>
              </a:rPr>
              <a:t>31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8330183" y="5495544"/>
            <a:ext cx="2093976" cy="118872"/>
          </a:xfrm>
          <a:prstGeom prst="rect">
            <a:avLst/>
          </a:prstGeom>
          <a:solidFill>
            <a:srgbClr val="D5E8D3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8366759" y="5499201"/>
            <a:ext cx="20208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171717"/>
                </a:solidFill>
                <a:latin typeface="Microsoft YaHei"/>
                <a:ea typeface="Microsoft YaHei"/>
              </a:rPr>
              <a:t>W2 : L0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8330183" y="5779008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1717"/>
                </a:solidFill>
                <a:latin typeface="Microsoft YaHei"/>
                <a:ea typeface="Microsoft YaHei"/>
              </a:rPr>
              <a:t>同列：2 个线程，跨 2 个 warp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8330183" y="6080760"/>
            <a:ext cx="3474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717"/>
                </a:solidFill>
                <a:latin typeface="Microsoft YaHei"/>
                <a:ea typeface="Microsoft YaHei"/>
              </a:rPr>
              <a:t>每线程持有该列 16 个值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795528" y="6345936"/>
            <a:ext cx="237744" cy="109728"/>
          </a:xfrm>
          <a:prstGeom prst="rect">
            <a:avLst/>
          </a:prstGeom>
          <a:solidFill>
            <a:srgbClr val="D4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1106424" y="6318504"/>
            <a:ext cx="86868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Microsoft YaHei"/>
                <a:ea typeface="Microsoft YaHei"/>
              </a:rPr>
              <a:t>Warp 0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2057400" y="6345936"/>
            <a:ext cx="237744" cy="109728"/>
          </a:xfrm>
          <a:prstGeom prst="rect">
            <a:avLst/>
          </a:prstGeom>
          <a:solidFill>
            <a:srgbClr val="F8D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2368296" y="6318504"/>
            <a:ext cx="86868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Microsoft YaHei"/>
                <a:ea typeface="Microsoft YaHei"/>
              </a:rPr>
              <a:t>Warp 1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3319272" y="6345936"/>
            <a:ext cx="237744" cy="109728"/>
          </a:xfrm>
          <a:prstGeom prst="rect">
            <a:avLst/>
          </a:prstGeom>
          <a:solidFill>
            <a:srgbClr val="D5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3630168" y="6318504"/>
            <a:ext cx="86868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Microsoft YaHei"/>
                <a:ea typeface="Microsoft YaHei"/>
              </a:rPr>
              <a:t>Warp 2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4581144" y="6345936"/>
            <a:ext cx="237744" cy="109728"/>
          </a:xfrm>
          <a:prstGeom prst="rect">
            <a:avLst/>
          </a:prstGeom>
          <a:solidFill>
            <a:srgbClr val="E2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4892040" y="6318504"/>
            <a:ext cx="86868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Microsoft YaHei"/>
                <a:ea typeface="Microsoft YaHei"/>
              </a:rPr>
              <a:t>Warp 3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6336792" y="6318504"/>
            <a:ext cx="5020056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1717"/>
                </a:solidFill>
                <a:latin typeface="Microsoft YaHei"/>
                <a:ea typeface="Microsoft YaHei"/>
              </a:rPr>
              <a:t>圆点标出同一个线程 W0:L0 的全部持有位置。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2. 当前编译器选择机制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需要比较完整路径，同时满足资源约束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同列贡献线程少、vec 更小、静态指令更少，都不是完整 kernel 更快的充分条件。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[1,S1–S5] 问题讨论、源码与已有编译产物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952" y="1938528"/>
            <a:ext cx="10789920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0392" y="1988820"/>
            <a:ext cx="2697479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成本 / 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988820"/>
            <a:ext cx="39319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布局改变的内容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1988820"/>
            <a:ext cx="36118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建模要求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2441448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0392" y="2491740"/>
            <a:ext cx="2697479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取数路径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491740"/>
            <a:ext cx="39319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TMA shared-load；普通 global/cache</a:t>
            </a:r>
          </a:p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491740"/>
            <a:ext cx="361188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按实际访问模板校准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952" y="3099815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0392" y="3150108"/>
            <a:ext cx="2697479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线程内规约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3150108"/>
            <a:ext cx="39319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每线程同列值数、packed max /</a:t>
            </a:r>
          </a:p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widening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3150108"/>
            <a:ext cx="361188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预测实际操作及依赖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8952" y="3758183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0392" y="3808475"/>
            <a:ext cx="2697479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跨线程合并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3808475"/>
            <a:ext cx="39319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lane / warp 归属、shuffle / shared /</a:t>
            </a:r>
          </a:p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barrier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3808475"/>
            <a:ext cx="361188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校准通信与同步子图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" y="4416551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0392" y="4466843"/>
            <a:ext cx="2697479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输出路径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4466843"/>
            <a:ext cx="3931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结果 SliceLayout、转换与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4466843"/>
            <a:ext cx="361188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保留实际消费者要求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8952" y="5010912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0392" y="5061203"/>
            <a:ext cx="2697479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资源可行性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0752" y="5061203"/>
            <a:ext cx="3931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寄存器、SMEM、spill 与可达驻留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5061203"/>
            <a:ext cx="361188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先合法性门，再预测时间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8952" y="5605272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86384" y="5897880"/>
            <a:ext cx="1056132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目标是预测成本与适用条件；用微基准校准参数，再用完整 kernel 检验组合误差。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4. 初版模型反思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早期模型的不足：逻辑分数不能替代硬件成本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以下是早期 H100 32×128/w4 归档代码的静态对照，不是本轮测得的阶段时间。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[5] Phase 10 归档 PTX；[6] NCU 指标定义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952" y="1920240"/>
            <a:ext cx="10789920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0392" y="1970532"/>
            <a:ext cx="347472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1717"/>
                </a:solidFill>
                <a:latin typeface="Microsoft YaHei"/>
                <a:ea typeface="Microsoft YaHei"/>
              </a:rPr>
              <a:t>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970532"/>
            <a:ext cx="3383279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1717"/>
                </a:solidFill>
                <a:latin typeface="Microsoft YaHei"/>
                <a:ea typeface="Microsoft YaHei"/>
              </a:rPr>
              <a:t>默认 vec8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1970532"/>
            <a:ext cx="3383279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71717"/>
                </a:solidFill>
                <a:latin typeface="Microsoft YaHei"/>
                <a:ea typeface="Microsoft YaHei"/>
              </a:rPr>
              <a:t>早期 vec2 候选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2414016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0392" y="2464308"/>
            <a:ext cx="34747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旧加载分数（无量纲，已弃用）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464308"/>
            <a:ext cx="3383279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464308"/>
            <a:ext cx="3383279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16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952" y="2944368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0392" y="2994660"/>
            <a:ext cx="347472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初始加载 PTX 静态条数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994660"/>
            <a:ext cx="3383279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994660"/>
            <a:ext cx="3383279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8952" y="3438144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50392" y="3488436"/>
            <a:ext cx="347472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PTX opcode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3488436"/>
            <a:ext cx="3383279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ld.shared.v4.b32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3488436"/>
            <a:ext cx="3383279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ldmatrix...x4...b16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8952" y="3968496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0392" y="4018787"/>
            <a:ext cx="347472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BF16→FP32 转换静态条数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018787"/>
            <a:ext cx="3383279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4152" y="4018787"/>
            <a:ext cx="3383279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8952" y="4462272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0392" y="4512564"/>
            <a:ext cx="347472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局部操作顺序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4512564"/>
            <a:ext cx="3383279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BF16 packed max 后转换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4512564"/>
            <a:ext cx="3383279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BF16 packed max 后转换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8952" y="5065776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50392" y="5116068"/>
            <a:ext cx="347472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初始加载硬件成本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5116068"/>
            <a:ext cx="3383279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此对照未单独确认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5116068"/>
            <a:ext cx="3383279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此对照未单独确认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58952" y="5559552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5528" y="5815584"/>
            <a:ext cx="1056132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1717"/>
                </a:solidFill>
                <a:latin typeface="Microsoft YaHei"/>
                <a:ea typeface="Microsoft YaHei"/>
              </a:rPr>
              <a:t>静态结构需要匹配实际 lowering，再经微基准校准；PTX 条数不能换算 requests、wavefront 或时间。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5. 下一步方案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先验证微基准能测到什么，再校准子图有效成本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首版固定 H100、host TMA、BF16 partial max；循环、反馈和 checksum 的附加工作显式保留。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[7] Phase 11 FOLLOWUP_PLAN.md：review draft，尚未执行 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1920240"/>
            <a:ext cx="10789920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7" y="1970532"/>
            <a:ext cx="109728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子图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1970532"/>
            <a:ext cx="530352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合法 Gluon 构造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7" y="1970532"/>
            <a:ext cx="384048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用途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2414016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7" y="2464308"/>
            <a:ext cx="10972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ML 取数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464308"/>
            <a:ext cx="530352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TMA 预填 shared；指定布局读取并形成 checksum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7" y="2464308"/>
            <a:ext cx="38404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访问模板、有效延迟/吞吐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3035808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7" y="3086100"/>
            <a:ext cx="109728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MR 规约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3086100"/>
            <a:ext cx="530352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驻留寄存器；max 与有界、非幂等的数据依赖反馈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7" y="3086100"/>
            <a:ext cx="384048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局部计算与交换/同步子图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8" y="3758184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7" y="3808476"/>
            <a:ext cx="10972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MO 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3808476"/>
            <a:ext cx="530352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实际结果布局 → 固定输出布局 →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3808476"/>
            <a:ext cx="38404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消费者与转换路径成本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4379976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7" y="4430268"/>
            <a:ext cx="10972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MC 全图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30268"/>
            <a:ext cx="530352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原始 host TMA → load → max → 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7" y="4430268"/>
            <a:ext cx="384048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检验组合预测与资源匹配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5001768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36676" y="5375338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" y="5285232"/>
            <a:ext cx="10259568" cy="262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1717"/>
                </a:solidFill>
                <a:latin typeface="Microsoft YaHei"/>
                <a:ea typeface="Microsoft YaHei"/>
              </a:rPr>
              <a:t>同一 CUBIN 用 runtime K=1/16/64/256；NCU 核对目标操作确实随 K 增长。</a:t>
            </a:r>
          </a:p>
        </p:txBody>
      </p:sp>
      <p:sp>
        <p:nvSpPr>
          <p:cNvPr id="33" name="Oval 32"/>
          <p:cNvSpPr/>
          <p:nvPr/>
        </p:nvSpPr>
        <p:spPr>
          <a:xfrm>
            <a:off x="836676" y="5784151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" y="5694045"/>
            <a:ext cx="10259568" cy="262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1717"/>
                </a:solidFill>
                <a:latin typeface="Microsoft YaHei"/>
                <a:ea typeface="Microsoft YaHei"/>
              </a:rPr>
              <a:t>C1 最多 16 个程序，先检查重复、模板与资源；无法辨识时修订方案，不冒充裸指令延迟。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6. 研究进度与计划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已完成问题表征；下一步是校准可行性与选择模型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把已经完成的证据、尚待验证的机制，以及后续交付分开汇报。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[2,3,7] 既有实验、源码审计与后续 review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1938528"/>
            <a:ext cx="10789920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7" y="1988820"/>
            <a:ext cx="17830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1988820"/>
            <a:ext cx="54406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具体内容 / 可交付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1988820"/>
            <a:ext cx="30175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状态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2441448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7" y="2491740"/>
            <a:ext cx="178308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问题表征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491740"/>
            <a:ext cx="544068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TMA/Gluon 与 A10 对照、默认选择机制、原始证据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491740"/>
            <a:ext cx="301752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已完成；分项归因待校准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3163824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7" y="3214116"/>
            <a:ext cx="178308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C1 可行性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3214116"/>
            <a:ext cx="544068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8 布局的 ML/MR，检查动态重复、模板与资源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3214116"/>
            <a:ext cx="301752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计划中；最多 16 个程序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8" y="3886200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7" y="3936491"/>
            <a:ext cx="178308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C2 / C3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7208" y="3936491"/>
            <a:ext cx="544068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正式校准、静态计划、参数辨识与冻结选择器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936491"/>
            <a:ext cx="301752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C1 通过后推进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4608576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7" y="4658868"/>
            <a:ext cx="178308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D1 / D2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7208" y="4658868"/>
            <a:ext cx="544068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新形状留出评价；H100 后再做 B200 等迁移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658868"/>
            <a:ext cx="3017520" cy="6309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模型冻结后执行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5330952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5528" y="5687568"/>
            <a:ext cx="1056132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预期产出：可解释的布局选择模型、可复现实验与编译器原型；上游改动以验证结果为依据。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2. 当前编译器选择机制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TMA 与普通 load：两个入口，都是先构造访存布局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核对实验 upstream 20d9d98、v3.7.1 与今日 main 4eda6cc；核心选择规则一致，非新增性能实验。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[S1,S2] Coalesce.cpp / CoalesceUtils.cpp / Utility.cpp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83664"/>
            <a:ext cx="51206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1717"/>
                </a:solidFill>
                <a:latin typeface="Microsoft YaHei"/>
                <a:ea typeface="Microsoft YaHei"/>
              </a:rPr>
              <a:t>TMA / descriptor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83664"/>
            <a:ext cx="51206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1717"/>
                </a:solidFill>
                <a:latin typeface="Microsoft YaHei"/>
                <a:ea typeface="Microsoft YaHei"/>
              </a:rPr>
              <a:t>普通 tl.load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44184" y="1847088"/>
            <a:ext cx="0" cy="3557016"/>
          </a:xfrm>
          <a:prstGeom prst="line">
            <a:avLst/>
          </a:prstGeom>
          <a:ln w="889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8096" y="2404872"/>
            <a:ext cx="489204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717"/>
                </a:solidFill>
                <a:latin typeface="Consolas"/>
                <a:ea typeface="Microsoft YaHei"/>
              </a:rPr>
              <a:t># pickDescriptorLoadStoreLayout</a:t>
            </a:r>
          </a:p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717"/>
                </a:solidFill>
                <a:latin typeface="Consolas"/>
                <a:ea typeface="Microsoft YaHei"/>
              </a:rPr>
              <a:t>E = max(numElems / (warps * 32), 1)</a:t>
            </a:r>
          </a:p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717"/>
                </a:solidFill>
                <a:latin typeface="Consolas"/>
                <a:ea typeface="Microsoft YaHei"/>
              </a:rPr>
              <a:t>V = min(E, 128 / element_bits)</a:t>
            </a:r>
          </a:p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717"/>
                </a:solidFill>
                <a:latin typeface="Consolas"/>
                <a:ea typeface="Microsoft YaHei"/>
              </a:rPr>
              <a:t>SPT = [1, ..., V]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404872"/>
            <a:ext cx="493776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717"/>
                </a:solidFill>
                <a:latin typeface="Consolas"/>
                <a:ea typeface="Microsoft YaHei"/>
              </a:rPr>
              <a:t># buildCoalescedEncoding</a:t>
            </a:r>
          </a:p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717"/>
                </a:solidFill>
                <a:latin typeface="Consolas"/>
                <a:ea typeface="Microsoft YaHei"/>
              </a:rPr>
              <a:t>order &lt;- pointer contiguity</a:t>
            </a:r>
          </a:p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717"/>
                </a:solidFill>
                <a:latin typeface="Consolas"/>
                <a:ea typeface="Microsoft YaHei"/>
              </a:rPr>
              <a:t>V0 &lt;- min(alignment, contiguity,</a:t>
            </a:r>
          </a:p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1717"/>
                </a:solidFill>
                <a:latin typeface="Consolas"/>
                <a:ea typeface="Microsoft YaHei"/>
              </a:rPr>
              <a:t>          128 / element_bits)</a:t>
            </a:r>
          </a:p>
        </p:txBody>
      </p:sp>
      <p:sp>
        <p:nvSpPr>
          <p:cNvPr id="15" name="Oval 14"/>
          <p:cNvSpPr/>
          <p:nvPr/>
        </p:nvSpPr>
        <p:spPr>
          <a:xfrm>
            <a:off x="800100" y="3695573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602736"/>
            <a:ext cx="4636007" cy="2694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N 优先；BF16 的目标上限为 8，FP32 为 4。</a:t>
            </a:r>
          </a:p>
        </p:txBody>
      </p:sp>
      <p:sp>
        <p:nvSpPr>
          <p:cNvPr id="17" name="Oval 16"/>
          <p:cNvSpPr/>
          <p:nvPr/>
        </p:nvSpPr>
        <p:spPr>
          <a:xfrm>
            <a:off x="800100" y="4147947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055109"/>
            <a:ext cx="4636007" cy="2694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再按 shape 和 warp 数分配 lane/warp。</a:t>
            </a:r>
          </a:p>
        </p:txBody>
      </p:sp>
      <p:sp>
        <p:nvSpPr>
          <p:cNvPr id="19" name="Oval 18"/>
          <p:cNvSpPr/>
          <p:nvPr/>
        </p:nvSpPr>
        <p:spPr>
          <a:xfrm>
            <a:off x="800100" y="4600321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507484"/>
            <a:ext cx="4636007" cy="2694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此函数不读取后续 reduce axis。</a:t>
            </a:r>
          </a:p>
        </p:txBody>
      </p:sp>
      <p:sp>
        <p:nvSpPr>
          <p:cNvPr id="21" name="Oval 20"/>
          <p:cNvSpPr/>
          <p:nvPr/>
        </p:nvSpPr>
        <p:spPr>
          <a:xfrm>
            <a:off x="6323076" y="3695573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3602736"/>
            <a:ext cx="4672583" cy="2694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用指针连续性与对齐约束向量宽度。</a:t>
            </a:r>
          </a:p>
        </p:txBody>
      </p:sp>
      <p:sp>
        <p:nvSpPr>
          <p:cNvPr id="23" name="Oval 22"/>
          <p:cNvSpPr/>
          <p:nvPr/>
        </p:nvSpPr>
        <p:spPr>
          <a:xfrm>
            <a:off x="6323076" y="4147947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4055109"/>
            <a:ext cx="4672583" cy="535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协调相关同 shape/order 的内存操作，并受每</a:t>
            </a:r>
          </a:p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线程元素量限制。</a:t>
            </a:r>
          </a:p>
        </p:txBody>
      </p:sp>
      <p:sp>
        <p:nvSpPr>
          <p:cNvPr id="25" name="Oval 24"/>
          <p:cNvSpPr/>
          <p:nvPr/>
        </p:nvSpPr>
        <p:spPr>
          <a:xfrm>
            <a:off x="6323076" y="4865878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4773040"/>
            <a:ext cx="4672583" cy="2694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再调用同一个 blocked-layout 构造器。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760720"/>
            <a:ext cx="10607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Microsoft YaHei"/>
                <a:ea typeface="Microsoft YaHei"/>
              </a:rPr>
              <a:t>这两个入口没有对本例的 vec1/2/4/8 做完整“加载—部分规约—输出”的校准时间比较。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2. 当前编译器选择机制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同样选 vec8，为什么同列贡献线程会从 8 变成 32？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BlockedEncodingAttr 的构造器从连续 N 维开始分配 lane/warp，再把剩余资源放到 M 维。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[S3] TritonGPUAttrDefs.td：shape-based builder；[3] 实际 TTGIR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" y="1956816"/>
            <a:ext cx="10881360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" y="2007108"/>
            <a:ext cx="28346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分配过程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2007108"/>
            <a:ext cx="388620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32×128 / 4 warps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2007108"/>
            <a:ext cx="361188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32×64 / 8 warps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232" y="2441448"/>
            <a:ext cx="1088136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" y="2491740"/>
            <a:ext cx="28346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平均元素 / 线程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2491740"/>
            <a:ext cx="388620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4096 / 128 =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2491740"/>
            <a:ext cx="361188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2048 / 256 = 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" y="2926080"/>
            <a:ext cx="1088136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4672" y="2976372"/>
            <a:ext cx="28346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默认 V（BF16）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2976372"/>
            <a:ext cx="388620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min(32, 8) =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2976372"/>
            <a:ext cx="361188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min(8, 8) = 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3410712"/>
            <a:ext cx="1088136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4672" y="3461004"/>
            <a:ext cx="28346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N 上的线程位置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1" y="3461004"/>
            <a:ext cx="388620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128 / 8 =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3461004"/>
            <a:ext cx="361188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64 / 8 = 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" y="3895344"/>
            <a:ext cx="1088136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4672" y="3945636"/>
            <a:ext cx="28346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threadsPerWarp [M,N]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1" y="3945636"/>
            <a:ext cx="388620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[2,16]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3945636"/>
            <a:ext cx="361188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[4,8]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3232" y="4379976"/>
            <a:ext cx="1088136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04672" y="4430268"/>
            <a:ext cx="28346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warpsPerCTA [M,N]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2191" y="4430268"/>
            <a:ext cx="388620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[4,1]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2" y="4430268"/>
            <a:ext cx="361188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[8,1]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3232" y="4864608"/>
            <a:ext cx="1088136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04672" y="4914900"/>
            <a:ext cx="28346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每列贡献线程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2191" y="4914900"/>
            <a:ext cx="388620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2 × 4 =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1272" y="4914900"/>
            <a:ext cx="361188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4 × 8 = 32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3232" y="5349240"/>
            <a:ext cx="1088136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Microsoft YaHei"/>
                <a:ea typeface="Microsoft YaHei"/>
              </a:rPr>
              <a:t>规则使用了 shape 和 warp 数，但没有用部分规约的预测时间来决定如何分配这些线程。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2. 当前编译器选择机制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后续 pass 为什么没有把本例改回线程局部布局？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编译器有布局传播与局部优化；本例没有命中能改写它的特定规约模式。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  <a:hlinkClick r:id="rId2"/>
              </a:rPr>
              <a:t>[S4,S5] RemoveLayoutConversions.cpp / OptimizeThreadLocality.cpp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947672"/>
            <a:ext cx="3246120" cy="539496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84248"/>
            <a:ext cx="3026663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Coalesce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947672"/>
            <a:ext cx="3246120" cy="539496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984248"/>
            <a:ext cx="3026663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RemoveLayoutConversions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947672"/>
            <a:ext cx="3246120" cy="539496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7" y="1984248"/>
            <a:ext cx="3026663" cy="4663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OptimizeThreadLocality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066543"/>
            <a:ext cx="24688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2066543"/>
            <a:ext cx="24688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2834640"/>
            <a:ext cx="10607040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7" y="2884932"/>
            <a:ext cx="2834639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相关阶段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884932"/>
            <a:ext cx="740664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本例中的行为 / 限制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8" y="3337560"/>
            <a:ext cx="1060704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1247" y="3387852"/>
            <a:ext cx="2834639" cy="7040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布局传播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3387852"/>
            <a:ext cx="7406640" cy="7040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descriptor 是 anchor；普通 load 在本例也作为内存 anchor，布局可向</a:t>
            </a:r>
          </a:p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cast / reduce 等传播。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8" y="4133088"/>
            <a:ext cx="1060704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1247" y="4183380"/>
            <a:ext cx="2834639" cy="7040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规约模式优化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4183380"/>
            <a:ext cx="7406640" cy="7040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循环规约变换要求 axis == rank−1，并匹配特定 scf.for 累加结构等条件。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8" y="4928616"/>
            <a:ext cx="1060704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7" y="4978908"/>
            <a:ext cx="2834639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本例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4978908"/>
            <a:ext cx="740664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[1,BM,BN] 的 axis=1，不是最后一维；也没有对应循环结构，因此不匹配。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5660136"/>
            <a:ext cx="1060704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86384" y="5879592"/>
            <a:ext cx="10561320" cy="393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最终 TTGIR 保留 vec8；这说明规则链的结果，不说明编译器比较过所有候选的完整成本。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3. 已完成实验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A10 普通 load：默认布局与固定候选的对照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BF16/max；同批 Triton 3.7.1；单位 µs。普通 Triton 与显式布局 Gluon 分别保留产物。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[3] results/local_a10/20261015_gpu0_r2：3 次进程重复，完整输出检查通过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029968"/>
            <a:ext cx="10707624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7" y="2080260"/>
            <a:ext cx="173736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tile / warps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080260"/>
            <a:ext cx="16459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Triton 默认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80260"/>
            <a:ext cx="178308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Gluon vec1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080260"/>
            <a:ext cx="14813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vec2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2080260"/>
            <a:ext cx="14813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vec4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4664" y="2080260"/>
            <a:ext cx="14813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vec8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2688336"/>
            <a:ext cx="10707624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7" y="2738628"/>
            <a:ext cx="173736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32×128 /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738628"/>
            <a:ext cx="16459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298.368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2738628"/>
            <a:ext cx="178308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313.264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738628"/>
            <a:ext cx="14813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297.984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738628"/>
            <a:ext cx="14813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296.960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4664" y="2738628"/>
            <a:ext cx="14813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298.880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8" y="3346704"/>
            <a:ext cx="10707624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1247" y="3396996"/>
            <a:ext cx="173736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32×64 /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3396996"/>
            <a:ext cx="164592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422.400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396996"/>
            <a:ext cx="178308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279.440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3396996"/>
            <a:ext cx="14813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285.696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3396996"/>
            <a:ext cx="14813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368.640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4664" y="3396996"/>
            <a:ext cx="14813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421.888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8" y="4005072"/>
            <a:ext cx="10707624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7532" y="4556887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453128"/>
            <a:ext cx="10305288" cy="2974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32×128 / w4：默认实现接近已测较快候选；直接改成 vec1 反而更慢。</a:t>
            </a:r>
          </a:p>
        </p:txBody>
      </p:sp>
      <p:sp>
        <p:nvSpPr>
          <p:cNvPr id="34" name="Oval 33"/>
          <p:cNvSpPr/>
          <p:nvPr/>
        </p:nvSpPr>
        <p:spPr>
          <a:xfrm>
            <a:off x="827532" y="5092065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988306"/>
            <a:ext cx="10305288" cy="2974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1717"/>
                </a:solidFill>
                <a:latin typeface="Microsoft YaHei"/>
                <a:ea typeface="Microsoft YaHei"/>
              </a:rPr>
              <a:t>32×64 / w8：同一 Gluon kernel 的 vec8→vec1，耗时减少约 33.8%（约 1.51× 加速）。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5870448"/>
            <a:ext cx="10561320" cy="393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1717"/>
                </a:solidFill>
                <a:latin typeface="Microsoft YaHei"/>
                <a:ea typeface="Microsoft YaHei"/>
              </a:rPr>
              <a:t>描述性对照，不宣称全局或唯一最优；Triton↔Gluon 的时间差不直接作为纯布局因果收益。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3. 已完成实验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H100 TMA：收益同样依赖形状与 warp 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固定未修改 upstream 20d9d98；BF16/max；原始 host descriptor 路径；full grid。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[2] Phase 11 Stage B interpretation.md / summary.md：7 次 worker 调用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1956816"/>
            <a:ext cx="10287000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7" y="2007108"/>
            <a:ext cx="2240279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tile / warps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007108"/>
            <a:ext cx="17830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vec1 µs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7" y="2007108"/>
            <a:ext cx="17830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vec2 µs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6327" y="2007108"/>
            <a:ext cx="17830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vec4 µs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007108"/>
            <a:ext cx="17830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vec8 µs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8" y="2523744"/>
            <a:ext cx="1028700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7" y="2574036"/>
            <a:ext cx="2240279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32×128 /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2574036"/>
            <a:ext cx="17830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56.048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7" y="2574036"/>
            <a:ext cx="17830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56.160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7" y="2574036"/>
            <a:ext cx="17830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56.464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574036"/>
            <a:ext cx="17830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57.296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8" y="3090672"/>
            <a:ext cx="1028700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7" y="3140964"/>
            <a:ext cx="2240279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32×64 /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3140964"/>
            <a:ext cx="17830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61.392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7" y="3140964"/>
            <a:ext cx="17830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62.048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7" y="3140964"/>
            <a:ext cx="17830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68.528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3140964"/>
            <a:ext cx="178308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112.096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9808" y="3657600"/>
            <a:ext cx="1028700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9808" y="4023360"/>
            <a:ext cx="10287000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1247" y="4073652"/>
            <a:ext cx="224027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配对 vec1 / vec8 对照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4408" y="4073652"/>
            <a:ext cx="30632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耗时减少估计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7" y="4073652"/>
            <a:ext cx="443484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1717"/>
                </a:solidFill>
                <a:latin typeface="Microsoft YaHei"/>
                <a:ea typeface="Microsoft YaHei"/>
              </a:rPr>
              <a:t>95% 同条件同时区间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08" y="4507992"/>
            <a:ext cx="1028700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1247" y="4558284"/>
            <a:ext cx="224027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32×128 /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4408" y="4558284"/>
            <a:ext cx="30632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2.332%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7" y="4558284"/>
            <a:ext cx="443484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[0.801%, 3.841%]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9808" y="4992624"/>
            <a:ext cx="1028700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41247" y="5042916"/>
            <a:ext cx="224027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32×64 / 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64408" y="5042916"/>
            <a:ext cx="3063239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46.652%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7" y="5042916"/>
            <a:ext cx="4434840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1717"/>
                </a:solidFill>
                <a:latin typeface="Microsoft YaHei"/>
                <a:ea typeface="Microsoft YaHei"/>
              </a:rPr>
              <a:t>[41.056%, 51.718%]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9808" y="5477256"/>
            <a:ext cx="1028700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5528" y="5769864"/>
            <a:ext cx="10561320" cy="4663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原始几何差异小；补充几何有明确机会，vec1/vec2 尚未分出超过 3% 的稳定差异。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5. 下一步方案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模型在编译期做选择，完整 kernel 的实测用于评价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灰盒：静态依赖与资源结构 + 每架构校准参数；不是逐个运行待优化 kernel 再挑赢家。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[7] FOLLOWUP_PLAN.md：静态计划、参数辨识、冻结预测与留出评价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956816"/>
            <a:ext cx="32461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93392"/>
            <a:ext cx="3026663" cy="7132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编译期特征 / target</a:t>
            </a:r>
          </a:p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shape / dtype / layout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956816"/>
            <a:ext cx="32461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993392"/>
            <a:ext cx="3026663" cy="7132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依赖图与资源计划</a:t>
            </a:r>
          </a:p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硬件校准参数 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956816"/>
            <a:ext cx="32461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C6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7" y="1993392"/>
            <a:ext cx="3026663" cy="7132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预测各合法候选时间</a:t>
            </a:r>
          </a:p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1717"/>
                </a:solidFill>
                <a:latin typeface="Microsoft YaHei"/>
                <a:ea typeface="Microsoft YaHei"/>
              </a:rPr>
              <a:t>不确定则回退默认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240280"/>
            <a:ext cx="24688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2240280"/>
            <a:ext cx="24688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" y="3362706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3264408"/>
            <a:ext cx="1030528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预测时只用静态信息与已冻结参数；测试 kernel 的实测时间、NCU 与最终寄存器数不作输入。</a:t>
            </a:r>
          </a:p>
        </p:txBody>
      </p:sp>
      <p:sp>
        <p:nvSpPr>
          <p:cNvPr id="20" name="Oval 19"/>
          <p:cNvSpPr/>
          <p:nvPr/>
        </p:nvSpPr>
        <p:spPr>
          <a:xfrm>
            <a:off x="836676" y="3829050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730752"/>
            <a:ext cx="1030528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对照默认布局、固定 vec 与简单局部性基线；报告收益/退化、回退覆盖率与最坏选择损失。</a:t>
            </a:r>
          </a:p>
        </p:txBody>
      </p:sp>
      <p:sp>
        <p:nvSpPr>
          <p:cNvPr id="22" name="Oval 21"/>
          <p:cNvSpPr/>
          <p:nvPr/>
        </p:nvSpPr>
        <p:spPr>
          <a:xfrm>
            <a:off x="836676" y="4295394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197096"/>
            <a:ext cx="1030528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模型冻结后测新的留出形状；跨架构区分参数直接迁移与仅重校准硬件参数的迁移。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5532120"/>
            <a:ext cx="10607040" cy="5760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669280"/>
            <a:ext cx="10250424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69"/>
              </a:lnSpc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171717"/>
                </a:solidFill>
                <a:latin typeface="Consolas"/>
                <a:ea typeface="Microsoft YaHei"/>
              </a:rPr>
              <a:t>selection regret = T(selected) / min(T(same candidate set)) - 1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附录 A. 普通 load 实际程序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A10 上运行的普通 Triton DSL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与前述 TMA 程序具有相同数学操作；仍保留 [1,BM,BN]，所以规约 axis=1。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[3] local_a10_versions/kernels.py：与上一轮 canonical 函数 AST 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901952"/>
            <a:ext cx="10652760" cy="35204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57400"/>
            <a:ext cx="10287000" cy="3182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1717"/>
                </a:solidFill>
                <a:latin typeface="Consolas"/>
                <a:ea typeface="Microsoft YaHei"/>
              </a:rPr>
              <a:t>@triton.jit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1717"/>
                </a:solidFill>
                <a:latin typeface="Consolas"/>
                <a:ea typeface="Microsoft YaHei"/>
              </a:rPr>
              <a:t>def canonical(x, out, BM: tl.constexpr, BN: tl.constexpr):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1717"/>
                </a:solidFill>
                <a:latin typeface="Consolas"/>
                <a:ea typeface="Microsoft YaHei"/>
              </a:rPr>
              <a:t>    pid = tl.program_id(0)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1717"/>
                </a:solidFill>
                <a:latin typeface="Consolas"/>
                <a:ea typeface="Microsoft YaHei"/>
              </a:rPr>
              <a:t>    pm, pn = pid // (8192 // BN), pid % (8192 // BN)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1717"/>
                </a:solidFill>
                <a:latin typeface="Consolas"/>
                <a:ea typeface="Microsoft YaHei"/>
              </a:rPr>
              <a:t>    rows = pm * BM + tl.arange(0, BM)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1717"/>
                </a:solidFill>
                <a:latin typeface="Consolas"/>
                <a:ea typeface="Microsoft YaHei"/>
              </a:rPr>
              <a:t>    cols = pn * BN + tl.arange(0, BN)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1717"/>
                </a:solidFill>
                <a:latin typeface="Consolas"/>
                <a:ea typeface="Microsoft YaHei"/>
              </a:rPr>
              <a:t>    offsets = tl.expand_dims(rows[:, None] * 8192 + cols[None, :], 0)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1717"/>
                </a:solidFill>
                <a:latin typeface="Consolas"/>
                <a:ea typeface="Microsoft YaHei"/>
              </a:rPr>
              <a:t>    values = tl.load(x + offsets).to(tl.float32)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1717"/>
                </a:solidFill>
                <a:latin typeface="Consolas"/>
                <a:ea typeface="Microsoft YaHei"/>
              </a:rPr>
              <a:t>    result = tl.max(values, axis=1)</a:t>
            </a:r>
          </a:p>
          <a:p>
            <a:pPr algn="l">
              <a:lnSpc>
                <a:spcPts val="1623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71717"/>
                </a:solidFill>
                <a:latin typeface="Consolas"/>
                <a:ea typeface="Microsoft YaHei"/>
              </a:rPr>
              <a:t>    tl.store(out + pm * 8192 + cols, tl.reshape(result, [BN]))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724144"/>
            <a:ext cx="105613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1717"/>
                </a:solidFill>
                <a:latin typeface="Microsoft YaHei"/>
                <a:ea typeface="Microsoft YaHei"/>
              </a:rPr>
              <a:t>输入 [1,8192,8192] BF16；输出 [256,8192] FP32；未在源码指定布局，由编译器自动选择。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附录 B. 版本回归与优化空间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A10：没有版本回归，不代表默认布局总是合适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独立版本对照批次；同 Python/Torch/ptxas；统一加载归档 CUBIN 配对计时。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[3] local_a10_versions/20261015_gpu0_r2：7 次进程重复，2,520 个 event 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19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002536"/>
            <a:ext cx="10789920" cy="0"/>
          </a:xfrm>
          <a:prstGeom prst="line">
            <a:avLst/>
          </a:prstGeom>
          <a:ln w="1397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7" y="2052828"/>
            <a:ext cx="2651760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Microsoft YaHei"/>
                <a:ea typeface="Microsoft YaHei"/>
              </a:rPr>
              <a:t>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052828"/>
            <a:ext cx="2468879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Microsoft YaHei"/>
                <a:ea typeface="Microsoft YaHei"/>
              </a:rPr>
              <a:t>3.5.1 µs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052828"/>
            <a:ext cx="2468879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Microsoft YaHei"/>
                <a:ea typeface="Microsoft YaHei"/>
              </a:rPr>
              <a:t>3.6.0 µs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2052828"/>
            <a:ext cx="2468879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1717"/>
                </a:solidFill>
                <a:latin typeface="Microsoft YaHei"/>
                <a:ea typeface="Microsoft YaHei"/>
              </a:rPr>
              <a:t>3.7.1 µs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" y="2633472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7" y="2683764"/>
            <a:ext cx="2651760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32×128 / 4 warps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683764"/>
            <a:ext cx="2468879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298.032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683764"/>
            <a:ext cx="2468879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298.224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2683764"/>
            <a:ext cx="2468879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298.832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" y="3264408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7" y="3314700"/>
            <a:ext cx="2651760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32×64 / 8 warps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3314700"/>
            <a:ext cx="2468879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436.224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314700"/>
            <a:ext cx="2468879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436.208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3314700"/>
            <a:ext cx="2468879" cy="539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436.976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9808" y="3895344"/>
            <a:ext cx="10789920" cy="0"/>
          </a:xfrm>
          <a:prstGeom prst="line">
            <a:avLst/>
          </a:prstGeom>
          <a:ln w="762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36676" y="4450842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" y="4352544"/>
            <a:ext cx="1030528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这两个配置中，三个版本的有效 M/N 默认分布均为 vec8，未观察到该发布边界的回归。</a:t>
            </a:r>
          </a:p>
        </p:txBody>
      </p:sp>
      <p:sp>
        <p:nvSpPr>
          <p:cNvPr id="28" name="Oval 27"/>
          <p:cNvSpPr/>
          <p:nvPr/>
        </p:nvSpPr>
        <p:spPr>
          <a:xfrm>
            <a:off x="836676" y="4926329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4828031"/>
            <a:ext cx="1030528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本表与第 12 页是不同批次，不能把本表约 436 µs 和另一批约 279 µs 混算收益。</a:t>
            </a:r>
          </a:p>
        </p:txBody>
      </p:sp>
      <p:sp>
        <p:nvSpPr>
          <p:cNvPr id="30" name="Oval 29"/>
          <p:cNvSpPr/>
          <p:nvPr/>
        </p:nvSpPr>
        <p:spPr>
          <a:xfrm>
            <a:off x="836676" y="5401817"/>
            <a:ext cx="50292" cy="50292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" y="5303519"/>
            <a:ext cx="10305288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1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1717"/>
                </a:solidFill>
                <a:latin typeface="Microsoft YaHei"/>
                <a:ea typeface="Microsoft YaHei"/>
              </a:rPr>
              <a:t>原始 TMA issue 的版本回归与普通路径的长期优化机会，是两种不同证据。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6984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</a:rPr>
              <a:t>附录 C. 参考与证据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"/>
            <a:ext cx="11064240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1717"/>
                </a:solidFill>
                <a:latin typeface="Microsoft YaHei"/>
                <a:ea typeface="Microsoft YaHei"/>
              </a:rPr>
              <a:t>源码版本、原始证据与后续方案索引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161288"/>
            <a:ext cx="11064240" cy="0"/>
          </a:xfrm>
          <a:prstGeom prst="line">
            <a:avLst/>
          </a:prstGeom>
          <a:ln w="15240">
            <a:solidFill>
              <a:srgbClr val="1D4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07592"/>
            <a:ext cx="11064240" cy="48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源码与数据分别固定版本；所有新增结论均可回到归档文件核对。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64808"/>
            <a:ext cx="11064240" cy="0"/>
          </a:xfrm>
          <a:prstGeom prst="line">
            <a:avLst/>
          </a:prstGeom>
          <a:ln w="6350">
            <a:solidFill>
              <a:srgbClr val="C6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56248"/>
            <a:ext cx="103327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7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  <a:latin typeface="Microsoft YaHei"/>
                <a:ea typeface="Microsoft YaHei"/>
              </a:rPr>
              <a:t>随交付：mechanism_audit.md、audit.json、source_audit/、speaker_notes.md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56248"/>
            <a:ext cx="621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74519"/>
            <a:ext cx="2176272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[1] 原始回归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1874519"/>
            <a:ext cx="8275320" cy="393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717"/>
                </a:solidFill>
                <a:latin typeface="Microsoft YaHei"/>
                <a:ea typeface="Microsoft YaHei"/>
                <a:hlinkClick r:id="rId2"/>
              </a:rPr>
              <a:t>Triton Issue #9703：GB300，TMA descriptor load + partial 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414015"/>
            <a:ext cx="2176272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[2] H100 布局实验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414015"/>
            <a:ext cx="8275320" cy="393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717"/>
                </a:solidFill>
                <a:latin typeface="Microsoft YaHei"/>
                <a:ea typeface="Microsoft YaHei"/>
              </a:rPr>
              <a:t>results/phase11/stage_b/{summary,interpretation}.md；upstream 20d9d98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953511"/>
            <a:ext cx="2176272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[3] A10 两轮实验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953511"/>
            <a:ext cx="8275320" cy="393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717"/>
                </a:solidFill>
                <a:latin typeface="Microsoft YaHei"/>
                <a:ea typeface="Microsoft YaHei"/>
              </a:rPr>
              <a:t>results/local_a10/ 与 results/local_a10_versions/；本地 commit 942d380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493008"/>
            <a:ext cx="2176272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[4] 布局语义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493008"/>
            <a:ext cx="8275320" cy="393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717"/>
                </a:solidFill>
                <a:latin typeface="Microsoft YaHei"/>
                <a:ea typeface="Microsoft YaHei"/>
                <a:hlinkClick r:id="rId3"/>
              </a:rPr>
              <a:t>Triton / Gluon layouts：逻辑元素到 register / lane / warp 的映射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032504"/>
            <a:ext cx="2176272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[5] 早期代码审计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4032504"/>
            <a:ext cx="8275320" cy="393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717"/>
                </a:solidFill>
                <a:latin typeface="Microsoft YaHei"/>
                <a:ea typeface="Microsoft YaHei"/>
              </a:rPr>
              <a:t>Phase10：32×128/w4 BF16 host 路径 baseline / patch 的原始 PTX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572000"/>
            <a:ext cx="2176272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[6] NCU 定义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4572000"/>
            <a:ext cx="8275320" cy="393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717"/>
                </a:solidFill>
                <a:latin typeface="Microsoft YaHei"/>
                <a:ea typeface="Microsoft YaHei"/>
                <a:hlinkClick r:id="rId4"/>
              </a:rPr>
              <a:t>Instructions、Requests、Wavefronts、Bank Conflicts 分别核对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5111496"/>
            <a:ext cx="2176272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[7] 后续 review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0088" y="5111496"/>
            <a:ext cx="8275320" cy="393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717"/>
                </a:solidFill>
                <a:latin typeface="Microsoft YaHei"/>
                <a:ea typeface="Microsoft YaHei"/>
              </a:rPr>
              <a:t>phase11/FOLLOWUP_PLAN.md：C1/C2/C3、保留评价与架构迁移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650992"/>
            <a:ext cx="2176272" cy="3566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71717"/>
                </a:solidFill>
                <a:latin typeface="Microsoft YaHei"/>
                <a:ea typeface="Microsoft YaHei"/>
              </a:rPr>
              <a:t>[S1–S5] 当前机制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5650992"/>
            <a:ext cx="8275320" cy="393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1717"/>
                </a:solidFill>
                <a:latin typeface="Microsoft YaHei"/>
                <a:ea typeface="Microsoft YaHei"/>
                <a:hlinkClick r:id="rId5"/>
              </a:rPr>
              <a:t>main 4eda6cc91e86：Coalesce、builder、传播与 ThreadLocality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面向访存与部分归约的 GPU 张量布局选择</dc:title>
  <dc:subject>问题、当前编译器选择机制、已有实验与代价建模计划</dc:subject>
  <dc:creator>Chen Miaoming</dc:creator>
  <cp:keywords/>
  <dc:description>Revised from the user-provided deck; evidence and source audit frozen 2026-10-15.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