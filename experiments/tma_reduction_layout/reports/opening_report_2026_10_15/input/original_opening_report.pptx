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9"/>
    <p:sldId id="259" r:id="rId11"/>
    <p:sldId id="260" r:id="rId12"/>
    <p:sldId id="261" r:id="rId13"/>
    <p:sldId id="262" r:id="rId14"/>
    <p:sldId id="263" r:id="rId15"/>
    <p:sldId id="281" r:id="rId33"/>
    <p:sldId id="266" r:id="rId18"/>
    <p:sldId id="278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8" Type="http://schemas.openxmlformats.org/officeDocument/2006/relationships/slide" Target="slides/slide11.xml"/><Relationship Id="rId30" Type="http://schemas.openxmlformats.org/officeDocument/2006/relationships/slide" Target="slides/slide23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本次汇报围绕一个具体的 Triton 性能回归问题展开。先给出计算和布局的定义，再介绍联合成本近似原型以及受控评估。汇报结论只限于已经完成的实验范围，不宣称已完全解决原始 GB300 问题或获得普遍非回归保证。</a:t>
            </a:r>
          </a:p>
          <a:p/>
          <a:p>
            <a:r>
              <a:t>证据与参考：</a:t>
            </a:r>
          </a:p>
          <a:p>
            <a:r>
              <a:t>https://github.com/chenmiaoming/triton/tree/19f9b0fad0624fd809eecfc552228af953b0a588/experiments/tma_reduction_layout/results/phase10/stage_c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这一页给出后面所有示意图对应的具体 Triton 程序。它由冻结 Stage C kernel 的 HOST=True、OP='max'、MODE='reduce' 路径简化而来：去掉其它分支，将参数名 arg 改为 x_desc。</a:t>
            </a:r>
          </a:p>
          <a:p>
            <a:r>
              <a:t>pid 对应一个 CTA；pm/pn 定位 32×128 的输入 tile。descriptor.load 得到 [1,32,128] 的 BF16 tensor，随后转为 FP32；tl.max(axis=1) 消去 32 行，得到 [1,128]，reshape 后写入 out 的第 pm 行和对应的 128 列。grid 为 256×64=16384。没有修改归约前的 tensor rank。</a:t>
            </a:r>
          </a:p>
          <a:p>
            <a:r>
              <a:t>x_desc 在 host 端构造：TensorDescriptor(x, list(x.shape), list(x.stride()), [1,32,128])。x 的形状为 [1,8192,8192]；out 为连续 FP32 [256,8192]。启动为 partial_max[(16384,)](x_desc, out, BM=32, BN=128, num_warps=4)。</a:t>
            </a:r>
          </a:p>
          <a:p>
            <a:r>
              <a:t>性能问题是相同数学计算和源程序经过不同编译策略后，输入元素在寄存器/lane/warp 上的归属改变；后续页面具体分析这个变化。页面中的代码是教学简化，不是新运行的 GPU 实验。</a:t>
            </a:r>
          </a:p>
          <a:p/>
          <a:p>
            <a:r>
              <a:t>证据与参考：</a:t>
            </a:r>
          </a:p>
          <a:p>
            <a:r>
              <a:t>https://github.com/triton-lang/triton/issues/9703</a:t>
            </a:r>
          </a:p>
          <a:p>
            <a:r>
              <a:t>phase10/stage_c/kernels.py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 issue 报告同一段 TMA descriptor load + reduction 程序在升级后变慢。这里不把布局变化直接等同为唯一历史原因，也不做历史 culprit 的归因。我们把它转化为一个 compiler layout selection 问题：加载和归约的成本应否联合比较，以及比较结果是否具有一定泛化能力。</a:t>
            </a:r>
          </a:p>
          <a:p/>
          <a:p>
            <a:r>
              <a:t>证据与参考：</a:t>
            </a:r>
          </a:p>
          <a:p>
            <a:r>
              <a:t>https://github.com/triton-lang/triton/issues/9703</a:t>
            </a:r>
          </a:p>
          <a:p>
            <a:r>
              <a:t>phase10/compiler_prototype.patch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这里逐列归约：每一列的 M 个元素合并为一个最大值，消去 M 维，保留 N 维。沿 M 维归约说的是被消去的坐标轴；逐列归约说的是每列产生一个结果。避免使用沿行归约这一容易与逐行处理混淆的说法。本例还只聚合当前 tile 的 BM 行，整个输入沿 M 维的最大值仍需要合并不同 tile 的局部结果。蓝色边框标出各列的最大值。后面固定第 0 列分析 32 个值分别归哪个线程：这决定需要多少线程内 combine 和跨线程合并。</a:t>
            </a:r>
          </a:p>
          <a:p/>
          <a:p>
            <a:r>
              <a:t>证据与参考：</a:t>
            </a:r>
          </a:p>
          <a:p>
            <a:r>
              <a:t>https://github.com/triton-lang/triton/issues/9703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是数据路径示意。TMA 先将输入放入 shared memory；后端 LocalLoad 再把逻辑元素映射到线程的寄存器。我们只改变布局选择，不把 vec 当成 TMA 从 global 搬运的宽度。W0:L16 表示 warp 0 的 lane 16。解释中使用硬件编号只是说明 compiler layout，源程序没有引入 lane-varying scalar 或硬件 ID backdoor。</a:t>
            </a:r>
          </a:p>
          <a:p/>
          <a:p>
            <a:r>
              <a:t>证据与参考：</a:t>
            </a:r>
          </a:p>
          <a:p>
            <a:r>
              <a:t>https://triton-lang.org/main/getting-started/tutorials/gluon/layouts.html</a:t>
            </a:r>
          </a:p>
          <a:p>
            <a:r>
              <a:t>phase10/compiler_prototype.patch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原第6页的参数解释与原第8页的三种布局对照。三个参数分别描述每线程基本小块、warp内lane分配、CTA内warp分配，不表示硬件排成二维阵列。对3.6.0布局，[1,8]×[2,16]×[4,1]=[8,128]，32行需要沿M重复4次，线程数量保持128。每线程持有四条不相邻的行，每行八个连续列值，共32个元素。固定一列后，threadsPerWarp的M维为2，所以每warp有两个贡献lane；N优先时第0列为lane0与16。warpsPerCTA的M维为4，四个warp都覆盖这一列，共8个线程，每个持有该列4个值。3.5.1为1个线程持有该列32个值；当前原型为2个线程各持有16个值。旧版本参数来自原issue，不是重跑旧版。当前baseline的输入encoding也为vec8，但其reduction lowering已更新，布局相同不代表历史机器代码或时间相同。</a:t>
            </a:r>
          </a:p>
          <a:p/>
          <a:p>
            <a:r>
              <a:t>证据与参考：</a:t>
            </a:r>
          </a:p>
          <a:p>
            <a:r>
              <a:t>https://github.com/triton-lang/triton/issues/9703</a:t>
            </a:r>
          </a:p>
          <a:p>
            <a:r>
              <a:t>https://triton-lang.org/main/getting-started/tutorials/gluon/layouts.html</a:t>
            </a:r>
          </a:p>
          <a:p>
            <a:r>
              <a:t>results/phase10/stage_c/artifacts/sm90/baseline/export/M32_N128_w4/bfloat16/max/reduce/host/baseline/kernel.ttgir</a:t>
            </a:r>
          </a:p>
          <a:p>
            <a:r>
              <a:t>results/phase10/stage_c/artifacts/sm90/patch/export/M32_N128_w4/bfloat16/max/reduce/host/patch/kernel.ttgir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按用户给出的参考图重绘，三个面板都完整列出第0列的行0到31。底色表示warp，W:L给出精确warp/lane身份，圆点标出同一个线程W0:L0。3.5.1第0列全由W0:L0持有；3.6.0的8线程模式每8行重复，四个括号标出重复边界，W0:L0持有行0、8、16、24；原型偶数行归W0:L0、奇数行归W2:L0。每列分别有1/8/2个贡献线程，每线程持有该列32/4/16个值。重复覆盖不新增CTA、warp或lane，也不把同一个元素分给多个线程。完整tile中，每线程仍持有32个元素；3.6.0的W0:L0在上述四行中各持有列0到7。图展示输入ownership，不是实际reduction lowering的操作顺序或机器指令数。历史编码来自原issue，当前baseline编码相同但lowering可不同。</a:t>
            </a:r>
          </a:p>
          <a:p/>
          <a:p>
            <a:r>
              <a:t>证据与参考：</a:t>
            </a:r>
          </a:p>
          <a:p>
            <a:r>
              <a:t>https://github.com/triton-lang/triton/issues/9703</a:t>
            </a:r>
          </a:p>
          <a:p>
            <a:r>
              <a:t>https://triton-lang.org/main/getting-started/tutorials/gluon/layouts.html</a:t>
            </a:r>
          </a:p>
          <a:p>
            <a:r>
              <a:t>results/phase10/stage_c/artifacts/sm90/baseline/export/M32_N128_w4/bfloat16/max/reduce/host/baseline/kernel.ttgir</a:t>
            </a:r>
          </a:p>
          <a:p>
            <a:r>
              <a:t>results/phase10/stage_c/artifacts/sm90/patch/export/M32_N128_w4/bfloat16/max/reduce/host/patch/kernel.ttgir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同列贡献线程少是一项结构事实，但它不是总耗时降低的充分条件。小 vec 可能改变加载方式和输出转换，也可能改变实际寄存器与 occupancy。我们的假设是联合估计整个 descriptor-load-to-reduce 路径，而不是预设一个固定 vec。这是工作假设，尚未得到普遍的机器成本模型证明。</a:t>
            </a:r>
          </a:p>
          <a:p/>
          <a:p>
            <a:r>
              <a:t>证据与参考：</a:t>
            </a:r>
          </a:p>
          <a:p>
            <a:r>
              <a:t>https://github.com/triton-lang/triton/issues/9703#issuecomment-4049611302</a:t>
            </a:r>
          </a:p>
          <a:p>
            <a:r>
              <a:t>phase10/compiler_prototype.patch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现有Stage B/C支持声明范围内的有限值正确性与所选原型相对baseline的性能结果，但没有充分证明分项计分准确或候选排名正确。补实验应优先回答模型是否选对布局，而不只是扩大同类两版本计时。草案包括隔离副本的CPU逐项诊断、在同一upstream和输出路径固定合法vec1/2/4/8、归档所有候选产物、NCU分开初始加载和规约临时访存、无profiler配对计时、诊断dtype/op优化，以及模型所选候选相对实测最快候选的损失。诊断变体会改变优化和资源，不能简单用耗时差当阶段延迟。若依据已有held-out结果改模型，它们就成为开发/诊断资料，确认需要新的未见案例。本页是方案草案，当前没有执行新GPU实验或改动冻结compiler与原始证据。</a:t>
            </a:r>
          </a:p>
          <a:p/>
          <a:p>
            <a:r>
              <a:t>证据与参考：</a:t>
            </a:r>
          </a:p>
          <a:p>
            <a:r>
              <a:t>discussion/cost_audit_2026-10-15/explanation_and_validation_plan.md</a:t>
            </a:r>
          </a:p>
          <a:p>
            <a:r>
              <a:t>https://docs.nvidia.com/nsight-compute/ProfilingGuide/#shared-memory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固定vec证据只用于提出假设，不能替代当前prototype的性能验证。StageA审计识别并保存cachealias与工具链混杂；StageB实现compilerpatch，通过结构和有限输入correctnessgates；StageC冻结规则后做heldouttiming，原始资料全部保留、validator通过。各阶段已分别commit/push到实验分支。当前停在StageC；未启动后续阶段，未创建或修改PR。</a:t>
            </a:r>
          </a:p>
          <a:p/>
          <a:p>
            <a:r>
              <a:t>证据与参考：</a:t>
            </a:r>
          </a:p>
          <a:p>
            <a:r>
              <a:t>https://github.com/chenmiaoming/triton/tree/19f9b0fad0624fd809eecfc552228af953b0a588/experiments/tma_reduction_layout/results/phase10/stage_c/completion.md</a:t>
            </a:r>
          </a:p>
          <a:p>
            <a:r>
              <a:t>results/phase10/stage_b/summary.md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本例baseline初始加载段有四条ld.shared.v4.b32，prototype有四条ldmatrix.sync.aligned.m8n8.x4.shared.b16。这是PTX静态条数，未统计动态发射、SASS条数或硬件事务。R=32来自F32 reduction input的每lane逻辑scalar数，因此加载分数分别为4和16，说明逻辑vec分数与后端PTX计数存在差距。本页未提供这两份归档binary初始加载段的NCU对照，不可从四对四推出Requests、Wavefronts或耗时相同。NCU的Shared Memory表区分Instructions、Requests、Wavefronts和Bank Conflicts；wavefront是服务请求的批次，更宽访问即使无冲突也可能需要多批。分析时需确认LDS与LDSM等指令的计数覆盖，结合source/SASS位置区分初始加载与后续规约临时访存，并按相同grid或warp规模比较。PTX/SASS提供静态指令和地址分析依据，NCU用于核对实际访问；kernel整体耗时仍由独立计时验证。本次仅修正文档，不改变已冻结成本规则和实验数据。</a:t>
            </a:r>
          </a:p>
          <a:p/>
          <a:p>
            <a:r>
              <a:t>证据与参考：</a:t>
            </a:r>
          </a:p>
          <a:p>
            <a:r>
              <a:t>Stage C artifacts/sm90/{baseline,patch}/export/M32_N128_w4/bfloat16/max/reduce/host/{baseline,patch}/kernel.ptx</a:t>
            </a:r>
          </a:p>
          <a:p>
            <a:r>
              <a:t>baseline lines112–115；patch lines117–120</a:t>
            </a:r>
          </a:p>
          <a:p>
            <a:r>
              <a:t>phase10/compiler_prototype.patch</a:t>
            </a:r>
          </a:p>
          <a:p>
            <a:r>
              <a:t>https://docs.nvidia.com/nsight-compute/ProfilingGuide/#shared-memory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iton-lang.org/main/getting-started/tutorials/gluon/layouts.html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enmiaoming/triton/tree/19f9b0fad0624fd809eecfc552228af953b0a588/experiments/tma_reduction_layout/results/phase10/stage_c" TargetMode="External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科研进展与硕士开题方向汇报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GPU 编译器张量布局（Layout）自动选择研究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面向 Triton 访存—归约（Load–Reduction）冲突的机理分析与代价建模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93268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71717"/>
                </a:solidFill>
                <a:latin typeface="Microsoft YaHei"/>
                <a:ea typeface="Microsoft YaHei"/>
              </a:rPr>
              <a:t>开题方向定位、核心问题机理与代价模型路线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72384"/>
            <a:ext cx="932688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Chen Miaoming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31336"/>
            <a:ext cx="9326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2026 年 10 月 15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93268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开题背景与定位 → 归约计算与硬件路径 → 布局冲突机理 → 初版模型反思与新方案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代表性算子实例：矩阵分块读取后执行逐列归约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输入 BF16 [1,8192,8192]；每块读取 [32,128] 或 [32,64]；沿行方向 M（axis=1）求每列最大值。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原始 Issue #9703 复现程序；[2] A10 普通 tl.load / cp.async 对照实验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828800"/>
            <a:ext cx="10698480" cy="3584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956816"/>
            <a:ext cx="10323576" cy="33284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import triton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import triton.language as tl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@triton.jit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def partial_max(x_desc, out, BM: tl.constexpr, BN: tl.constexpr):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pid = tl.program_id(0)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pm, pn = pid // (8192 // BN), pid % (8192 // BN)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x = x_desc.load([0, pm * BM, pn * BN])  # [1, BM, BN]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x = x.to(tl.float32)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y = tl.max(x, axis=1)                 # [1, BN]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cols = pn * BN + tl.arange(0, BN)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offs = pm * 8192 + cols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tl.store(out + offs, tl.reshape(y, [BN]))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687568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共性现象：无论 Hopper TMA 加载还是 A10 普通 tl.load，编译器默认均选 vec8 布局。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实测差距：32×64 (8 warps) 下改为按列集中布局，H100 耗时降 41.2%，A10 降 36.0%。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开题方向：GPU 编译器的张量布局（Layout）自动优化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切入点：Triton 编译器在“矩阵加载方向”与“归约方向”不一致时的性能退化问题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Triton Issue #9703；[2] H100 (SM90) 与 A10 (SM86) 跨路径实测对照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048256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10506456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大方向定位：AI 编译器需将张量运算自动映射到 GPU 线程与寄存器（Layout）。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660523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50795"/>
            <a:ext cx="10506456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共性痛点：TMA 与普通 tl.load 后做逐列归约，默认 vec8 导致 36%–46% 退化。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27279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63062"/>
            <a:ext cx="10506456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物理矛盾：按行加载偏好宽向量（vec8），按列归约偏好同列元素集中于单线程。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0248"/>
            <a:ext cx="10634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1717"/>
                </a:solidFill>
                <a:latin typeface="Microsoft YaHei"/>
                <a:ea typeface="Microsoft YaHei"/>
              </a:rPr>
              <a:t>硕士开题核心科学问题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01184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791456"/>
            <a:ext cx="10387584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如何解耦并量化“访存向量化收益”与“跨线程 / 跨 Warp 归约通信代价”？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5858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348859"/>
            <a:ext cx="10387584" cy="35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如何构建编译期静态代价模型（Cost Model），实现跨形状与跨架构优选？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计算模式：逐列归约，消去 M 维、保留 N 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用 4×4 矩阵说明语义；实际案例为 32×128 的输入 tile。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Descriptor-load / max reproducer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8488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9928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26664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2576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4016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6664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18104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9928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22576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6664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8104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18488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9928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22576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14016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26664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18104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43584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190977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243584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14400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47672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895065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47672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618488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09928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51760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599153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651760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322576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14016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55848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3303241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355848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026664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18104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" y="5769864"/>
            <a:ext cx="2971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</a:rPr>
              <a:t>图 1. 每列产生一个输出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1975104"/>
            <a:ext cx="6638544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1717"/>
                </a:solidFill>
                <a:latin typeface="Microsoft YaHei"/>
                <a:ea typeface="Microsoft YaHei"/>
              </a:rPr>
              <a:t>y[n] = max{x[m,n] : 0 ≤ m &lt; BM}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0" y="2999232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91456" y="2889504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逐列取 max：消去行索引 M，保留列索引 N。</a:t>
            </a:r>
          </a:p>
        </p:txBody>
      </p:sp>
      <p:sp>
        <p:nvSpPr>
          <p:cNvPr id="66" name="Oval 65"/>
          <p:cNvSpPr/>
          <p:nvPr/>
        </p:nvSpPr>
        <p:spPr>
          <a:xfrm>
            <a:off x="4572000" y="3593211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91456" y="3483483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每个 CTA 对自己的 tile 计算局部结果。</a:t>
            </a:r>
          </a:p>
        </p:txBody>
      </p:sp>
      <p:sp>
        <p:nvSpPr>
          <p:cNvPr id="68" name="Oval 67"/>
          <p:cNvSpPr/>
          <p:nvPr/>
        </p:nvSpPr>
        <p:spPr>
          <a:xfrm>
            <a:off x="4572000" y="418719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91456" y="4077462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一列的 BM 个值必须合并为一个值。</a:t>
            </a:r>
          </a:p>
        </p:txBody>
      </p:sp>
      <p:sp>
        <p:nvSpPr>
          <p:cNvPr id="70" name="Oval 69"/>
          <p:cNvSpPr/>
          <p:nvPr/>
        </p:nvSpPr>
        <p:spPr>
          <a:xfrm>
            <a:off x="4572000" y="4781169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91456" y="4671441"/>
            <a:ext cx="6318504" cy="68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</a:rPr>
              <a:t>不同布局改变这些值的线程归属，数学目标保持相同。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执行层级与数据路径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本案例：1 个 CTA 包含 4 个 warp；每个 warp 有 32 个 lane，共 128 个线程。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[3] Triton blocked-layout 语义；[2] 当前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066543"/>
            <a:ext cx="2322576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8548"/>
            <a:ext cx="213969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Global memory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2968" y="2340864"/>
            <a:ext cx="338328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15000" y="2340864"/>
            <a:ext cx="96296" cy="5260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415000" y="2288257"/>
            <a:ext cx="96296" cy="52607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11879" y="2066543"/>
            <a:ext cx="2322576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098548"/>
            <a:ext cx="213969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Shared memory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340864"/>
            <a:ext cx="338328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277072" y="2340864"/>
            <a:ext cx="96296" cy="5260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277072" y="2288257"/>
            <a:ext cx="96296" cy="52607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73952" y="2066543"/>
            <a:ext cx="2322576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98548"/>
            <a:ext cx="213969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Registers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97112" y="2340864"/>
            <a:ext cx="338328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139144" y="2340864"/>
            <a:ext cx="96296" cy="5260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9139144" y="2288257"/>
            <a:ext cx="96296" cy="52607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336024" y="2066543"/>
            <a:ext cx="2322576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2098548"/>
            <a:ext cx="213969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1783080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TMA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178308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LocalLoad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3099816"/>
            <a:ext cx="10689336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1247" y="3150108"/>
            <a:ext cx="3090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层级 / 术语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150108"/>
            <a:ext cx="723290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本案例中的含义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3575304"/>
            <a:ext cx="10689336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7" y="3625596"/>
            <a:ext cx="3090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625596"/>
            <a:ext cx="723290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协作处理一个 32×128 输入 tile 的 CUDA thread block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9808" y="4050791"/>
            <a:ext cx="1068933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7" y="4101083"/>
            <a:ext cx="3090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warp / lane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101083"/>
            <a:ext cx="723290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warp 内有 32 个线程；lane 是 warp 内的线程编号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8" y="4526280"/>
            <a:ext cx="1068933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7" y="4576572"/>
            <a:ext cx="3090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寄存器布局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576572"/>
            <a:ext cx="723290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逻辑输入元素到寄存器、lane、warp 的映射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9808" y="5001768"/>
            <a:ext cx="1068933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1247" y="5052060"/>
            <a:ext cx="3090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逻辑 vector width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052060"/>
            <a:ext cx="723290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sizePerThread 在 N 维的基本连续元素数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9808" y="5477256"/>
            <a:ext cx="10689336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4672" y="5788152"/>
            <a:ext cx="10597896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本文讨论的 vec 影响 shared→register 分配及后续归约，不是 TMA 传输宽度参数。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布局冲突机理分析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三种输入布局：参数、重复覆盖与同列贡献线程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输入 tile=32×128；均为 1 CTA、4 warp、128 线程。参数按 [M,N] 书写，N 优先。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[1,3] 历史 encoding 与布局定义；[4] 当前原型 TTGIR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1856231"/>
            <a:ext cx="11073384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" y="1906524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参数 / 归属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3.5.1（报告）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3.6.0（报告）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当前原型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" y="2212848"/>
            <a:ext cx="110733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8952" y="2263140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sizePerThread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[1,2]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" y="2569463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8952" y="2619756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threadsPerWarp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7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[1,32]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[2,16]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[1,32]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" y="2926079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" y="2976372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warpsPerCTA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7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[4,1]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[2,2]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512" y="3282696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8952" y="3332988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CTA 基本覆盖（逐维相乘）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7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1×128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8×128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2×128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7512" y="3639312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952" y="3689604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沿 M 重复次数（32 / 覆盖行数）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4487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7512" y="3995927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58952" y="4046219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每线程元素分布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7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 行 × 1 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 行 × 8 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16 行 × 2 列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7512" y="4352544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8952" y="4402836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每线程总元素数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4487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7512" y="4709160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8952" y="4759452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同列贡献线程数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4487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 lane × 1 warp =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 lanes × 4 warps =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 lane × 2 warps = 2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7512" y="5065776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8952" y="5116068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同列贡献线程跨几个 warp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04487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47104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67512" y="5422392"/>
            <a:ext cx="110733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8096" y="5541264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sizePerThread：每线程的基本元素小块；threadsPerWarp：warp 内 lane 如何分配。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5843016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warpsPerCTA：CTA 内 warp 如何分配。基本覆盖 = 三个参数逐维相乘。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" y="6144768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重复覆盖使用同一组线程；多行通常不连续。当前 baseline 的输入布局也为 vec8。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布局冲突机理分析 · 输入 tile=32×128；每种布局均为 1 CTA、4 warp、128 线程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第 0 列的 32 个值分别归哪个线程？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仅表示输入归属；当前 baseline 输入编码同 3.6.0，lowering 可不同。W=warp 编号；L=lane 编号。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</a:rPr>
              <a:t>3.5.1（原报告）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1×128；沿 M 重复 32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192938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8" name="Oval 17"/>
          <p:cNvSpPr/>
          <p:nvPr/>
        </p:nvSpPr>
        <p:spPr>
          <a:xfrm>
            <a:off x="3017520" y="19714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20482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20903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21671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6" name="Oval 25"/>
          <p:cNvSpPr/>
          <p:nvPr/>
        </p:nvSpPr>
        <p:spPr>
          <a:xfrm>
            <a:off x="3017520" y="22091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22860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0" name="Oval 29"/>
          <p:cNvSpPr/>
          <p:nvPr/>
        </p:nvSpPr>
        <p:spPr>
          <a:xfrm>
            <a:off x="3017520" y="23280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" y="24048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4" name="Oval 33"/>
          <p:cNvSpPr/>
          <p:nvPr/>
        </p:nvSpPr>
        <p:spPr>
          <a:xfrm>
            <a:off x="3017520" y="24469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" y="25237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8" name="Oval 37"/>
          <p:cNvSpPr/>
          <p:nvPr/>
        </p:nvSpPr>
        <p:spPr>
          <a:xfrm>
            <a:off x="3017520" y="25658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64261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42" name="Oval 41"/>
          <p:cNvSpPr/>
          <p:nvPr/>
        </p:nvSpPr>
        <p:spPr>
          <a:xfrm>
            <a:off x="3017520" y="268467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46" name="Oval 45"/>
          <p:cNvSpPr/>
          <p:nvPr/>
        </p:nvSpPr>
        <p:spPr>
          <a:xfrm>
            <a:off x="3017520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" y="288036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0" name="Oval 49"/>
          <p:cNvSpPr/>
          <p:nvPr/>
        </p:nvSpPr>
        <p:spPr>
          <a:xfrm>
            <a:off x="3017520" y="292242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" y="299923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4" name="Oval 53"/>
          <p:cNvSpPr/>
          <p:nvPr/>
        </p:nvSpPr>
        <p:spPr>
          <a:xfrm>
            <a:off x="3017520" y="304129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311810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8" name="Oval 57"/>
          <p:cNvSpPr/>
          <p:nvPr/>
        </p:nvSpPr>
        <p:spPr>
          <a:xfrm>
            <a:off x="3017520" y="316016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8" y="323697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62" name="Oval 61"/>
          <p:cNvSpPr/>
          <p:nvPr/>
        </p:nvSpPr>
        <p:spPr>
          <a:xfrm>
            <a:off x="3017520" y="327903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" y="335584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66" name="Oval 65"/>
          <p:cNvSpPr/>
          <p:nvPr/>
        </p:nvSpPr>
        <p:spPr>
          <a:xfrm>
            <a:off x="3017520" y="339791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8" y="347472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0" name="Oval 69"/>
          <p:cNvSpPr/>
          <p:nvPr/>
        </p:nvSpPr>
        <p:spPr>
          <a:xfrm>
            <a:off x="3017520" y="351678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359359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4" name="Oval 73"/>
          <p:cNvSpPr/>
          <p:nvPr/>
        </p:nvSpPr>
        <p:spPr>
          <a:xfrm>
            <a:off x="3017520" y="363565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5528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8" name="Oval 77"/>
          <p:cNvSpPr/>
          <p:nvPr/>
        </p:nvSpPr>
        <p:spPr>
          <a:xfrm>
            <a:off x="3017520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" y="3831335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82" name="Oval 81"/>
          <p:cNvSpPr/>
          <p:nvPr/>
        </p:nvSpPr>
        <p:spPr>
          <a:xfrm>
            <a:off x="3017520" y="387339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5528" y="395020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86" name="Oval 85"/>
          <p:cNvSpPr/>
          <p:nvPr/>
        </p:nvSpPr>
        <p:spPr>
          <a:xfrm>
            <a:off x="3017520" y="399227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8" y="406908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0" name="Oval 89"/>
          <p:cNvSpPr/>
          <p:nvPr/>
        </p:nvSpPr>
        <p:spPr>
          <a:xfrm>
            <a:off x="3017520" y="411114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5528" y="418795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4" name="Oval 93"/>
          <p:cNvSpPr/>
          <p:nvPr/>
        </p:nvSpPr>
        <p:spPr>
          <a:xfrm>
            <a:off x="3017520" y="423001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5528" y="430682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2104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8" name="Oval 97"/>
          <p:cNvSpPr/>
          <p:nvPr/>
        </p:nvSpPr>
        <p:spPr>
          <a:xfrm>
            <a:off x="3017520" y="434888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352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5528" y="442569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104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02" name="Oval 101"/>
          <p:cNvSpPr/>
          <p:nvPr/>
        </p:nvSpPr>
        <p:spPr>
          <a:xfrm>
            <a:off x="3017520" y="446775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0352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" y="454456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2104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06" name="Oval 105"/>
          <p:cNvSpPr/>
          <p:nvPr/>
        </p:nvSpPr>
        <p:spPr>
          <a:xfrm>
            <a:off x="3017520" y="458663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2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5528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32104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0" name="Oval 109"/>
          <p:cNvSpPr/>
          <p:nvPr/>
        </p:nvSpPr>
        <p:spPr>
          <a:xfrm>
            <a:off x="3017520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95528" y="47823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2104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4" name="Oval 113"/>
          <p:cNvSpPr/>
          <p:nvPr/>
        </p:nvSpPr>
        <p:spPr>
          <a:xfrm>
            <a:off x="3017520" y="48243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0352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5528" y="4901183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2104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8" name="Oval 117"/>
          <p:cNvSpPr/>
          <p:nvPr/>
        </p:nvSpPr>
        <p:spPr>
          <a:xfrm>
            <a:off x="3017520" y="49432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30352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" y="50200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2104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22" name="Oval 121"/>
          <p:cNvSpPr/>
          <p:nvPr/>
        </p:nvSpPr>
        <p:spPr>
          <a:xfrm>
            <a:off x="3017520" y="50621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0352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5528" y="51389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2104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26" name="Oval 125"/>
          <p:cNvSpPr/>
          <p:nvPr/>
        </p:nvSpPr>
        <p:spPr>
          <a:xfrm>
            <a:off x="3017520" y="51809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8" y="52578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2104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0" name="Oval 129"/>
          <p:cNvSpPr/>
          <p:nvPr/>
        </p:nvSpPr>
        <p:spPr>
          <a:xfrm>
            <a:off x="3017520" y="52998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352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8" y="53766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2104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4" name="Oval 133"/>
          <p:cNvSpPr/>
          <p:nvPr/>
        </p:nvSpPr>
        <p:spPr>
          <a:xfrm>
            <a:off x="3017520" y="54187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0352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8" y="54955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32104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8" name="Oval 137"/>
          <p:cNvSpPr/>
          <p:nvPr/>
        </p:nvSpPr>
        <p:spPr>
          <a:xfrm>
            <a:off x="3017520" y="55376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95528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同列：1 个线程，跨 1 个 warp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95528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32 个值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62856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</a:rPr>
              <a:t>3.6.0 / 当前 baseline 输入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62856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8×128；沿 M 重复 4 次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97680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62856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99432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46" name="Oval 145"/>
          <p:cNvSpPr/>
          <p:nvPr/>
        </p:nvSpPr>
        <p:spPr>
          <a:xfrm>
            <a:off x="6784848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297680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562856" y="192938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99432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97680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62856" y="2048256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599432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97680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62856" y="2167128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599432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97680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562856" y="22860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99432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297680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562856" y="240487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99432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297680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562856" y="2523744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599432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297680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62856" y="2642616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99432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297680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62856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99432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71" name="Oval 170"/>
          <p:cNvSpPr/>
          <p:nvPr/>
        </p:nvSpPr>
        <p:spPr>
          <a:xfrm>
            <a:off x="6784848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97680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62856" y="288036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99432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297680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562856" y="2999232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99432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297680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62856" y="3118104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99432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297680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62856" y="323697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599432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97680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62856" y="335584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99432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297680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562856" y="3474720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599432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97680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62856" y="3593592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99432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297680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562856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599432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96" name="Oval 195"/>
          <p:cNvSpPr/>
          <p:nvPr/>
        </p:nvSpPr>
        <p:spPr>
          <a:xfrm>
            <a:off x="6784848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297680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562856" y="3831335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599432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297680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562856" y="3950208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599432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297680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562856" y="4069080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599432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297680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562856" y="418795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599432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297680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562856" y="430682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599432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297680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62856" y="4425696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99432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297680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562856" y="4544568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599432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297680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62856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99432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21" name="Oval 220"/>
          <p:cNvSpPr/>
          <p:nvPr/>
        </p:nvSpPr>
        <p:spPr>
          <a:xfrm>
            <a:off x="6784848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297680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562856" y="47823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599432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297680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562856" y="4901183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599432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297680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562856" y="5020056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599432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297680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562856" y="513892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599432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297680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562856" y="52578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599432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97680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562856" y="5376672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599432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97680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562856" y="5495544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599432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6894576" y="1824228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013448" y="1824228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894576" y="2747772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7095744" y="2148840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1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0–7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6894576" y="2775204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7013448" y="2775204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894576" y="3698748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7095744" y="3099816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2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8–15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4562856" y="2761488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894576" y="3726180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7013448" y="3726180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894576" y="4649724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7095744" y="4050791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3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16–23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4562856" y="3712464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894576" y="4677155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7013448" y="4677155"/>
            <a:ext cx="0" cy="923545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894576" y="5600700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7095744" y="5001768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4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24–31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4562856" y="4663440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4562856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同列：8 个线程，跨 4 个 warp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62856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4 个值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330183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</a:rPr>
              <a:t>当前原型：upstream + 补丁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330183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2×128；沿 M 重复 16 次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065008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8330183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8366759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69" name="Oval 268"/>
          <p:cNvSpPr/>
          <p:nvPr/>
        </p:nvSpPr>
        <p:spPr>
          <a:xfrm>
            <a:off x="10552176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065008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8330183" y="192938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8366759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065008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330183" y="20482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8366759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76" name="Oval 275"/>
          <p:cNvSpPr/>
          <p:nvPr/>
        </p:nvSpPr>
        <p:spPr>
          <a:xfrm>
            <a:off x="10552176" y="20903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065008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330183" y="216712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366759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065008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8330183" y="22860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366759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83" name="Oval 282"/>
          <p:cNvSpPr/>
          <p:nvPr/>
        </p:nvSpPr>
        <p:spPr>
          <a:xfrm>
            <a:off x="10552176" y="23280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065008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8330183" y="240487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8366759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065008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8330183" y="25237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366759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90" name="Oval 289"/>
          <p:cNvSpPr/>
          <p:nvPr/>
        </p:nvSpPr>
        <p:spPr>
          <a:xfrm>
            <a:off x="10552176" y="25658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065008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330183" y="264261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366759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065008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8330183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8366759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97" name="Oval 296"/>
          <p:cNvSpPr/>
          <p:nvPr/>
        </p:nvSpPr>
        <p:spPr>
          <a:xfrm>
            <a:off x="10552176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8065008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8330183" y="288036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8366759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8065008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8330183" y="299923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366759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04" name="Oval 303"/>
          <p:cNvSpPr/>
          <p:nvPr/>
        </p:nvSpPr>
        <p:spPr>
          <a:xfrm>
            <a:off x="10552176" y="304129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065008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330183" y="311810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8366759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065008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330183" y="323697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366759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11" name="Oval 310"/>
          <p:cNvSpPr/>
          <p:nvPr/>
        </p:nvSpPr>
        <p:spPr>
          <a:xfrm>
            <a:off x="10552176" y="327903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8065008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330183" y="335584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366759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065008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330183" y="347472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366759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18" name="Oval 317"/>
          <p:cNvSpPr/>
          <p:nvPr/>
        </p:nvSpPr>
        <p:spPr>
          <a:xfrm>
            <a:off x="10552176" y="351678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8065008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30183" y="359359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66759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065008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330183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366759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25" name="Oval 324"/>
          <p:cNvSpPr/>
          <p:nvPr/>
        </p:nvSpPr>
        <p:spPr>
          <a:xfrm>
            <a:off x="10552176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065008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330183" y="3831335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366759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8065008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8330183" y="395020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8366759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32" name="Oval 331"/>
          <p:cNvSpPr/>
          <p:nvPr/>
        </p:nvSpPr>
        <p:spPr>
          <a:xfrm>
            <a:off x="10552176" y="399227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8065008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330183" y="406908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366759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065008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8330183" y="418795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366759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39" name="Oval 338"/>
          <p:cNvSpPr/>
          <p:nvPr/>
        </p:nvSpPr>
        <p:spPr>
          <a:xfrm>
            <a:off x="10552176" y="423001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065008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8330183" y="430682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366759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8065008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330183" y="442569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8366759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46" name="Oval 345"/>
          <p:cNvSpPr/>
          <p:nvPr/>
        </p:nvSpPr>
        <p:spPr>
          <a:xfrm>
            <a:off x="10552176" y="446775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065008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330183" y="454456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8366759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065008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330183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366759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53" name="Oval 352"/>
          <p:cNvSpPr/>
          <p:nvPr/>
        </p:nvSpPr>
        <p:spPr>
          <a:xfrm>
            <a:off x="10552176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065008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8330183" y="478231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8366759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065008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330183" y="4901183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366759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60" name="Oval 359"/>
          <p:cNvSpPr/>
          <p:nvPr/>
        </p:nvSpPr>
        <p:spPr>
          <a:xfrm>
            <a:off x="10552176" y="49432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8065008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330183" y="502005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366759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8065008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8330183" y="51389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8366759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67" name="Oval 366"/>
          <p:cNvSpPr/>
          <p:nvPr/>
        </p:nvSpPr>
        <p:spPr>
          <a:xfrm>
            <a:off x="10552176" y="51809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8065008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330183" y="52578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366759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065008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330183" y="53766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8366759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74" name="Oval 373"/>
          <p:cNvSpPr/>
          <p:nvPr/>
        </p:nvSpPr>
        <p:spPr>
          <a:xfrm>
            <a:off x="10552176" y="54187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8065008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30183" y="549554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366759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8330183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同列：2 个线程，跨 2 个 warp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8330183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16 个值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795528" y="6345936"/>
            <a:ext cx="237744" cy="109728"/>
          </a:xfrm>
          <a:prstGeom prst="rect">
            <a:avLst/>
          </a:prstGeom>
          <a:solidFill>
            <a:srgbClr val="D4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106424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0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2057400" y="6345936"/>
            <a:ext cx="237744" cy="109728"/>
          </a:xfrm>
          <a:prstGeom prst="rect">
            <a:avLst/>
          </a:prstGeom>
          <a:solidFill>
            <a:srgbClr val="F8D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2368296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1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3319272" y="6345936"/>
            <a:ext cx="237744" cy="109728"/>
          </a:xfrm>
          <a:prstGeom prst="rect">
            <a:avLst/>
          </a:prstGeom>
          <a:solidFill>
            <a:srgbClr val="D5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3630168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2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4581144" y="6345936"/>
            <a:ext cx="237744" cy="109728"/>
          </a:xfrm>
          <a:prstGeom prst="rect">
            <a:avLst/>
          </a:prstGeom>
          <a:solidFill>
            <a:srgbClr val="E2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4892040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3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336792" y="6318504"/>
            <a:ext cx="502005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圆点标出同一个线程 W0:L0 的全部持有位置。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布局冲突机理分析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布局选择的四维成本权衡：为什么不能只看向量宽度？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布局决定元素归属，但总耗时还受实际指令、同步、资源与工作量影响。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原问题讨论；[2] 结构成本原型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" y="1938528"/>
            <a:ext cx="10616184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" y="1988820"/>
            <a:ext cx="2798063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成本项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5" y="1988820"/>
            <a:ext cx="389534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布局可能带来的变化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88820"/>
            <a:ext cx="337413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评估要求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2478024"/>
            <a:ext cx="106161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2528316"/>
            <a:ext cx="2798063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shared→register 加载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528316"/>
            <a:ext cx="389534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指令选择、向量化、重排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28316"/>
            <a:ext cx="337413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核对实际 lowering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3017520"/>
            <a:ext cx="106161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" y="3067812"/>
            <a:ext cx="2798063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线程内归约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5" y="3067812"/>
            <a:ext cx="389534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每线程参与归约的值数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067812"/>
            <a:ext cx="337413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比较 combine 数量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3557016"/>
            <a:ext cx="106161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" y="3607308"/>
            <a:ext cx="2798063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线程间合并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1335" y="3607308"/>
            <a:ext cx="389534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lane / warp 分散程度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607308"/>
            <a:ext cx="337413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计入 shuffle 与同步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096512"/>
            <a:ext cx="106161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392" y="4146804"/>
            <a:ext cx="2798063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结果布局转换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5" y="4146804"/>
            <a:ext cx="389534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后续使用者要求的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146804"/>
            <a:ext cx="3374136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保留完整输出路径成本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4636008"/>
            <a:ext cx="106161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3816" y="513892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工作假设：联合比较上述成本，比单独优先扩大 vec 更有可能获得合适布局。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待检验：该规则在未见形状和不同架构上是否仍有收益，以及回退是否足够保守。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4. 下一步代价模型方案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新建模路线：解耦微基准辨识成本 → 静态依赖与资源调度模型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剥离编译器多阶段耦合，分别测量加载（ML）、归约通信（MR）与输出转换（MO）的真实硬件开销。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[8] Phase 11 FOLLOWUP_PLAN.md：微基准校准与静态调度代价模型方案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1901952"/>
            <a:ext cx="1060704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1952244"/>
            <a:ext cx="192023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核心模块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952244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具体构造方法与建模内容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52244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解决的关键问题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2441448"/>
            <a:ext cx="10607040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491740"/>
            <a:ext cx="192023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加载子图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9174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TMA 填充 SMEM，按候选布局读取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9174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捕获 LDS/ldmatrix 波前与吞吐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2980944"/>
            <a:ext cx="10607040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031236"/>
            <a:ext cx="192023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归约子图 MR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031236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驻留寄存器，K 次依赖循环归约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031236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量化线程内计算与跨 Warp 同步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520440"/>
            <a:ext cx="10607040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3570732"/>
            <a:ext cx="192023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静态调度模型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570732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操作依赖图 G_L + 硬件校准参数 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70732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建模关键路径与重叠，取代指令相加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4059935"/>
            <a:ext cx="10607040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4110227"/>
            <a:ext cx="192023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保守回退盲测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110227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不确定区间回退默认 + 留出集盲测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10227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平坦区不误改、敏感区稳定加速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4599431"/>
            <a:ext cx="10607040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3816" y="4928616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4818888"/>
            <a:ext cx="10277856" cy="32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1717"/>
                </a:solidFill>
                <a:latin typeface="Microsoft YaHei"/>
                <a:ea typeface="Microsoft YaHei"/>
              </a:rPr>
              <a:t>防测错机制：固定二进制扫描 K=1, 16, 64, 256 提取斜率 ΔT/ΔK，并用 NCU 核对执行次数。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" y="5435981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5326253"/>
            <a:ext cx="10277856" cy="32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1717"/>
                </a:solidFill>
                <a:latin typeface="Microsoft YaHei"/>
                <a:ea typeface="Microsoft YaHei"/>
              </a:rPr>
              <a:t>结构化泛化：通过参数探针扫描每线程值数（1~64）、Lane 数与 Warp 数，避免单形状过拟合。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5. 开题规划与推进节奏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硕士毕业论文研究框架与分阶段推进计划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围绕“GPU 编译器访存—归约布局自动优化”构建完整闭环：问题表征 → 微基准建模 → 编译 Pass 与跨架构验证。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[4,8] 实验分支 explore/tma-reduction-layout 与后续实验计划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883664"/>
            <a:ext cx="10872216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1933956"/>
            <a:ext cx="17465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Microsoft YaHei"/>
                <a:ea typeface="Microsoft YaHei"/>
              </a:rPr>
              <a:t>研究阶段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1933956"/>
            <a:ext cx="4224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Microsoft YaHei"/>
                <a:ea typeface="Microsoft YaHei"/>
              </a:rPr>
              <a:t>核心研究内容与论文对应章节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33956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Microsoft YaHei"/>
                <a:ea typeface="Microsoft YaHei"/>
              </a:rPr>
              <a:t>当前状态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1933956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Microsoft YaHei"/>
                <a:ea typeface="Microsoft YaHei"/>
              </a:rPr>
              <a:t>目标平台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487168"/>
            <a:ext cx="10872216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2537460"/>
            <a:ext cx="17465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一、问题表征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2537460"/>
            <a:ext cx="4224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TMA 与普通 Load 访存—归约冲突机理与实测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537460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已完成（加速 36%–41%）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7272" y="2537460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H100 / A10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090672"/>
            <a:ext cx="1087221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140964"/>
            <a:ext cx="17465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二、阶段 C1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344" y="3140964"/>
            <a:ext cx="4224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8 个代表布局的 ML/MR 微基准可行性与校准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140964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方案就绪，本周启动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3140964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H100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3694176"/>
            <a:ext cx="1087221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3744468"/>
            <a:ext cx="17465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三、阶段 C2/C3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2344" y="3744468"/>
            <a:ext cx="4224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15 布局与参数探针正式校准，实现静态调度模型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744468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C1 验证通过后推进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3744468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H100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4297680"/>
            <a:ext cx="10872216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347972"/>
            <a:ext cx="17465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四、阶段 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52344" y="4347972"/>
            <a:ext cx="4224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留出形状盲测（Selection Regret）与跨架构迁移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4347972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模型冻结后执行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4347972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H100 / B200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4901184"/>
            <a:ext cx="10872216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4672" y="5349240"/>
            <a:ext cx="10460736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成果定位：提出面向 GPU 异步张量内存与归约算子的灰盒解析代价模型，并向 Triton 主干提交优化。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近期停点：第一批仅运行阶段 C1（最多 16 个微基准程序），确认斜率测量可靠后再进入全量校准。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3. 初版代价模型反思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模型瓶颈诊断：静态逻辑指令计数与真实底层代码的偏差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以 H100 BM32/BN128/w4 为例：按 ceil(R/vec) 简单相加无法反映真实 PTX 指令与硬件波前。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[4] 归档 H100 kernel.ptx 对照；[8] 初版计分模型审计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" y="2011680"/>
            <a:ext cx="10323575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2061972"/>
            <a:ext cx="31912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061972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默认布局 (vec8)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61972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候选布局 (vec2)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" y="2496312"/>
            <a:ext cx="10323575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2546604"/>
            <a:ext cx="31912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逻辑 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546604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546604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" y="2980944"/>
            <a:ext cx="10323575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3031236"/>
            <a:ext cx="31912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输入 scalar extent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031236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031236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" y="3465576"/>
            <a:ext cx="10323575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7824" y="3515868"/>
            <a:ext cx="31912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初版模型加载计分 ceil(R/vec)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515868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4（模型低估）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515868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16（模型高估 4 倍）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" y="3950208"/>
            <a:ext cx="10323575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" y="4000500"/>
            <a:ext cx="31912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初始加载 PTX 静态条数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4000500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000500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6384" y="4434840"/>
            <a:ext cx="10323575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" y="4485132"/>
            <a:ext cx="31912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PTX opcode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59" y="4485132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ld.shared.v4.b32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485132"/>
            <a:ext cx="32918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ldmatrix m8n8.x4.shared.b16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6384" y="4919472"/>
            <a:ext cx="10323575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7824" y="4969764"/>
            <a:ext cx="31912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类型转换与归约 lowering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4969764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先转 FP32 再归约（8 条转换）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4969764"/>
            <a:ext cx="32918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先 BF16 打包 max 再转（2 条转换）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6384" y="5404104"/>
            <a:ext cx="10323575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3816" y="5678424"/>
            <a:ext cx="105247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核心反思：初版模型将逻辑指令数等权相加，忽略了底层 ldmatrix 指令、BF16 打包归约与访存冲突。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改进结论：不能靠“静态猜指令条数”做编译决策，必须通过解耦微基准实测子图成本，构建灰盒调度模型。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TMA partial reduction：布局权衡与编译器原型验证</dc:title>
  <dc:subject>问题、解决思路、实验方案与科研进度</dc:subject>
  <dc:creator>Chen Miaoming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